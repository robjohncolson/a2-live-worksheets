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63" r:id="rId4"/>
    <p:sldId id="325" r:id="rId5"/>
    <p:sldId id="276" r:id="rId6"/>
    <p:sldId id="296" r:id="rId7"/>
    <p:sldId id="332" r:id="rId8"/>
    <p:sldId id="293" r:id="rId9"/>
    <p:sldId id="298" r:id="rId10"/>
    <p:sldId id="301" r:id="rId11"/>
    <p:sldId id="319" r:id="rId12"/>
    <p:sldId id="327" r:id="rId13"/>
    <p:sldId id="328" r:id="rId14"/>
    <p:sldId id="321" r:id="rId15"/>
    <p:sldId id="322" r:id="rId16"/>
    <p:sldId id="329" r:id="rId17"/>
    <p:sldId id="330" r:id="rId18"/>
    <p:sldId id="324" r:id="rId19"/>
    <p:sldId id="283" r:id="rId20"/>
    <p:sldId id="331" r:id="rId21"/>
    <p:sldId id="273" r:id="rId22"/>
    <p:sldId id="274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02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uBirG7ZPSvPNLrAnDSwPhBAM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B30"/>
    <a:srgbClr val="168446"/>
    <a:srgbClr val="256BB9"/>
    <a:srgbClr val="137F97"/>
    <a:srgbClr val="D92B31"/>
    <a:srgbClr val="90057A"/>
    <a:srgbClr val="C02B43"/>
    <a:srgbClr val="0A7E97"/>
    <a:srgbClr val="58595B"/>
    <a:srgbClr val="585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1" autoAdjust="0"/>
    <p:restoredTop sz="94558"/>
  </p:normalViewPr>
  <p:slideViewPr>
    <p:cSldViewPr snapToGrid="0">
      <p:cViewPr>
        <p:scale>
          <a:sx n="75" d="100"/>
          <a:sy n="75" d="100"/>
        </p:scale>
        <p:origin x="-528" y="-786"/>
      </p:cViewPr>
      <p:guideLst>
        <p:guide orient="horz" pos="30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09394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x-none" dirty="0" smtClean="0"/>
              <a:t>k</a:t>
            </a: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5595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8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8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475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344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331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331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565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bb40417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0ebb404171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g10ebb404171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44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5;g10ebb404171_0_179">
            <a:extLst>
              <a:ext uri="{FF2B5EF4-FFF2-40B4-BE49-F238E27FC236}">
                <a16:creationId xmlns="" xmlns:a16="http://schemas.microsoft.com/office/drawing/2014/main" id="{FD3CDB3A-FFC8-B14A-BE88-DC4557E54454}"/>
              </a:ext>
            </a:extLst>
          </p:cNvPr>
          <p:cNvSpPr/>
          <p:nvPr userDrawn="1"/>
        </p:nvSpPr>
        <p:spPr>
          <a:xfrm>
            <a:off x="0" y="6352925"/>
            <a:ext cx="9153300" cy="50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8;g10ebb404171_0_179">
            <a:extLst>
              <a:ext uri="{FF2B5EF4-FFF2-40B4-BE49-F238E27FC236}">
                <a16:creationId xmlns="" xmlns:a16="http://schemas.microsoft.com/office/drawing/2014/main" id="{C23092A7-FD2F-7848-A40F-9A3A2B4511CD}"/>
              </a:ext>
            </a:extLst>
          </p:cNvPr>
          <p:cNvSpPr/>
          <p:nvPr userDrawn="1"/>
        </p:nvSpPr>
        <p:spPr>
          <a:xfrm>
            <a:off x="276474" y="6581700"/>
            <a:ext cx="86229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dirty="0">
                <a:solidFill>
                  <a:srgbClr val="595959"/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Copyright © </a:t>
            </a:r>
            <a:r>
              <a:rPr lang="en-US" sz="800" dirty="0" err="1">
                <a:solidFill>
                  <a:srgbClr val="595959"/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Savvas</a:t>
            </a:r>
            <a:r>
              <a:rPr lang="en-US" sz="800" dirty="0">
                <a:solidFill>
                  <a:srgbClr val="595959"/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 Learning Company LLC. All Rights Reserved. </a:t>
            </a:r>
            <a:r>
              <a:rPr lang="en-US" sz="800" dirty="0" err="1">
                <a:solidFill>
                  <a:srgbClr val="595959"/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Savvas</a:t>
            </a:r>
            <a:r>
              <a:rPr lang="en-US" sz="800" dirty="0">
                <a:solidFill>
                  <a:srgbClr val="595959"/>
                </a:solidFill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"/>
              </a:rPr>
              <a:t> is not responsible for any modifications made by end users to the content posted in its original format.</a:t>
            </a:r>
            <a:endParaRPr sz="800" dirty="0">
              <a:solidFill>
                <a:srgbClr val="595959"/>
              </a:solidFill>
              <a:latin typeface="Arial" panose="020B0604020202020204" pitchFamily="34" charset="0"/>
              <a:ea typeface="Avenir"/>
              <a:cs typeface="Arial" panose="020B0604020202020204" pitchFamily="34" charset="0"/>
              <a:sym typeface="Avenir"/>
            </a:endParaRPr>
          </a:p>
        </p:txBody>
      </p:sp>
      <p:sp>
        <p:nvSpPr>
          <p:cNvPr id="11" name="Google Shape;174;g10ebb404171_0_179">
            <a:extLst>
              <a:ext uri="{FF2B5EF4-FFF2-40B4-BE49-F238E27FC236}">
                <a16:creationId xmlns="" xmlns:a16="http://schemas.microsoft.com/office/drawing/2014/main" id="{4D281886-AC8C-2540-8EB7-87D378C9FD2A}"/>
              </a:ext>
            </a:extLst>
          </p:cNvPr>
          <p:cNvSpPr/>
          <p:nvPr userDrawn="1"/>
        </p:nvSpPr>
        <p:spPr>
          <a:xfrm rot="10800000">
            <a:off x="7760700" y="-1000"/>
            <a:ext cx="1392600" cy="270300"/>
          </a:xfrm>
          <a:prstGeom prst="round1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77;g10ebb404171_0_179">
            <a:extLst>
              <a:ext uri="{FF2B5EF4-FFF2-40B4-BE49-F238E27FC236}">
                <a16:creationId xmlns="" xmlns:a16="http://schemas.microsoft.com/office/drawing/2014/main" id="{0822B5BD-E7E2-F744-9194-3BF22C6BC3BF}"/>
              </a:ext>
            </a:extLst>
          </p:cNvPr>
          <p:cNvSpPr/>
          <p:nvPr userDrawn="1"/>
        </p:nvSpPr>
        <p:spPr>
          <a:xfrm>
            <a:off x="0" y="-1000"/>
            <a:ext cx="7757700" cy="13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76;g10ebb404171_0_179">
            <a:extLst>
              <a:ext uri="{FF2B5EF4-FFF2-40B4-BE49-F238E27FC236}">
                <a16:creationId xmlns="" xmlns:a16="http://schemas.microsoft.com/office/drawing/2014/main" id="{A4833768-1218-5848-AC2B-00F2790F9ED5}"/>
              </a:ext>
            </a:extLst>
          </p:cNvPr>
          <p:cNvSpPr/>
          <p:nvPr userDrawn="1"/>
        </p:nvSpPr>
        <p:spPr>
          <a:xfrm>
            <a:off x="7787175" y="81349"/>
            <a:ext cx="1366125" cy="18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0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 3  </a:t>
            </a:r>
            <a:r>
              <a:rPr lang="de-DE" sz="1000" b="0" i="0" u="none" strike="noStrike" cap="none" dirty="0" err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Lesson</a:t>
            </a:r>
            <a:r>
              <a:rPr lang="de-DE" sz="1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lang="de-DE"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0A69635-3DB8-9F4E-A50E-054B36AB8B4A}"/>
              </a:ext>
            </a:extLst>
          </p:cNvPr>
          <p:cNvSpPr txBox="1"/>
          <p:nvPr/>
        </p:nvSpPr>
        <p:spPr>
          <a:xfrm>
            <a:off x="353868" y="329857"/>
            <a:ext cx="684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56BB9"/>
                </a:solidFill>
              </a:rPr>
              <a:t>Adding, Subtracting</a:t>
            </a:r>
            <a:r>
              <a:rPr lang="en-US" sz="2000" b="1" dirty="0" smtClean="0">
                <a:solidFill>
                  <a:srgbClr val="256BB9"/>
                </a:solidFill>
              </a:rPr>
              <a:t>, and Multiplying </a:t>
            </a:r>
            <a:r>
              <a:rPr lang="it-IT" sz="2000" b="1" dirty="0" err="1" smtClean="0">
                <a:solidFill>
                  <a:srgbClr val="256BB9"/>
                </a:solidFill>
              </a:rPr>
              <a:t>Polynomials</a:t>
            </a:r>
            <a:endParaRPr lang="en-IN" sz="2000" b="1" dirty="0">
              <a:solidFill>
                <a:srgbClr val="256BB9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="" xmlns:a16="http://schemas.microsoft.com/office/drawing/2014/main" id="{06EE5264-7408-674B-8BDC-744261C90E89}"/>
              </a:ext>
            </a:extLst>
          </p:cNvPr>
          <p:cNvSpPr/>
          <p:nvPr/>
        </p:nvSpPr>
        <p:spPr>
          <a:xfrm>
            <a:off x="445055" y="815611"/>
            <a:ext cx="7920000" cy="735126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IN" sz="1800" b="1" dirty="0">
                <a:solidFill>
                  <a:srgbClr val="256BB9"/>
                </a:solidFill>
              </a:rPr>
              <a:t>I CAN</a:t>
            </a:r>
            <a:r>
              <a:rPr lang="en-IN" sz="1800" b="1" dirty="0" smtClean="0">
                <a:solidFill>
                  <a:srgbClr val="256BB9"/>
                </a:solidFill>
              </a:rPr>
              <a:t>…</a:t>
            </a:r>
            <a:r>
              <a:rPr lang="en-US" sz="1800" dirty="0" smtClean="0">
                <a:solidFill>
                  <a:srgbClr val="256BB9"/>
                </a:solidFill>
              </a:rPr>
              <a:t> 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add, subtract, and multiply polynomials.</a:t>
            </a: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E033CF7-964E-904E-B8F6-4DC8B0D5C047}"/>
              </a:ext>
            </a:extLst>
          </p:cNvPr>
          <p:cNvSpPr txBox="1"/>
          <p:nvPr/>
        </p:nvSpPr>
        <p:spPr>
          <a:xfrm>
            <a:off x="355758" y="765706"/>
            <a:ext cx="840323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Let </a:t>
            </a:r>
            <a:r>
              <a:rPr lang="en-US" sz="1600" b="1" i="1" dirty="0" smtClean="0"/>
              <a:t>S</a:t>
            </a:r>
            <a:r>
              <a:rPr lang="en-US" sz="1600" b="1" dirty="0" smtClean="0"/>
              <a:t> </a:t>
            </a:r>
            <a:r>
              <a:rPr lang="en-US" sz="1600" b="1" dirty="0"/>
              <a:t>be the set of expressions that can be written as </a:t>
            </a:r>
            <a:r>
              <a:rPr lang="en-US" sz="1600" b="1" i="1" dirty="0"/>
              <a:t>ax</a:t>
            </a:r>
            <a:r>
              <a:rPr lang="en-US" sz="1600" b="1" dirty="0"/>
              <a:t> + </a:t>
            </a:r>
            <a:r>
              <a:rPr lang="en-US" sz="1600" b="1" i="1" dirty="0"/>
              <a:t>b</a:t>
            </a:r>
            <a:r>
              <a:rPr lang="en-US" sz="1600" b="1" dirty="0"/>
              <a:t> </a:t>
            </a:r>
            <a:r>
              <a:rPr lang="en-US" sz="1600" b="1" dirty="0" smtClean="0"/>
              <a:t>where </a:t>
            </a:r>
            <a:r>
              <a:rPr lang="en-US" sz="1600" b="1" i="1" dirty="0"/>
              <a:t>a</a:t>
            </a:r>
            <a:r>
              <a:rPr lang="en-US" sz="1600" b="1" dirty="0"/>
              <a:t> </a:t>
            </a:r>
            <a:r>
              <a:rPr lang="en-US" sz="1600" b="1" dirty="0" smtClean="0"/>
              <a:t>and </a:t>
            </a:r>
            <a:r>
              <a:rPr lang="en-US" sz="1600" b="1" i="1" dirty="0" smtClean="0"/>
              <a:t>b</a:t>
            </a:r>
            <a:r>
              <a:rPr lang="en-US" sz="1600" b="1" dirty="0" smtClean="0"/>
              <a:t> are </a:t>
            </a:r>
            <a:br>
              <a:rPr lang="en-US" sz="1600" b="1" dirty="0" smtClean="0"/>
            </a:br>
            <a:r>
              <a:rPr lang="en-US" sz="1600" b="1" dirty="0" smtClean="0"/>
              <a:t>real numbers.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4546DB7-47C6-1448-8CE9-C4BBBB4A73B5}"/>
              </a:ext>
            </a:extLst>
          </p:cNvPr>
          <p:cNvSpPr txBox="1"/>
          <p:nvPr/>
        </p:nvSpPr>
        <p:spPr>
          <a:xfrm>
            <a:off x="355757" y="1395027"/>
            <a:ext cx="80262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IN" sz="1600" b="1" dirty="0" smtClean="0">
                <a:solidFill>
                  <a:schemeClr val="tx1"/>
                </a:solidFill>
              </a:rPr>
              <a:t>​</a:t>
            </a:r>
            <a:r>
              <a:rPr lang="en-US" sz="1600" dirty="0" smtClean="0"/>
              <a:t>Describe </a:t>
            </a:r>
            <a:r>
              <a:rPr lang="en-US" sz="1600" dirty="0"/>
              <a:t>the Associative Property, Commutative Property, and </a:t>
            </a:r>
            <a:r>
              <a:rPr lang="en-US" sz="1600" dirty="0" smtClean="0"/>
              <a:t>the Distributive </a:t>
            </a:r>
            <a:r>
              <a:rPr lang="en-US" sz="1600" dirty="0"/>
              <a:t>Property. Then, explain the role of each in simplifying </a:t>
            </a:r>
            <a:r>
              <a:rPr lang="en-US" sz="1600" dirty="0" smtClean="0"/>
              <a:t>the sum </a:t>
            </a:r>
            <a:r>
              <a:rPr lang="en-US" sz="1600" dirty="0"/>
              <a:t>(3</a:t>
            </a:r>
            <a:r>
              <a:rPr lang="en-US" sz="1600" i="1" dirty="0"/>
              <a:t>x</a:t>
            </a:r>
            <a:r>
              <a:rPr lang="en-US" sz="1600" dirty="0"/>
              <a:t> + </a:t>
            </a:r>
            <a:r>
              <a:rPr lang="en-US" sz="1600" dirty="0" smtClean="0"/>
              <a:t>2</a:t>
            </a:r>
            <a:r>
              <a:rPr lang="en-US" sz="1600" dirty="0"/>
              <a:t>) + </a:t>
            </a:r>
            <a:r>
              <a:rPr lang="en-US" sz="1600" dirty="0" smtClean="0"/>
              <a:t>(7</a:t>
            </a:r>
            <a:r>
              <a:rPr lang="en-US" sz="1600" i="1" dirty="0" smtClean="0"/>
              <a:t>x</a:t>
            </a:r>
            <a:r>
              <a:rPr lang="en-US" sz="1600" dirty="0" smtClean="0"/>
              <a:t> </a:t>
            </a:r>
            <a:r>
              <a:rPr lang="en-US" sz="1600" dirty="0"/>
              <a:t>− </a:t>
            </a:r>
            <a:r>
              <a:rPr lang="en-US" sz="1600" dirty="0" smtClean="0"/>
              <a:t>4). </a:t>
            </a:r>
            <a:r>
              <a:rPr lang="en-US" sz="1600" dirty="0"/>
              <a:t>Identify the leading coefficient and the </a:t>
            </a:r>
            <a:r>
              <a:rPr lang="en-US" sz="1600" dirty="0" smtClean="0"/>
              <a:t>constant term </a:t>
            </a:r>
            <a:r>
              <a:rPr lang="en-US" sz="1600" dirty="0"/>
              <a:t>in the result.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IN" sz="1600" b="1" dirty="0">
                <a:solidFill>
                  <a:schemeClr val="tx1"/>
                </a:solidFill>
              </a:rPr>
              <a:t>​</a:t>
            </a:r>
            <a:r>
              <a:rPr lang="en-US" sz="1600" dirty="0" smtClean="0"/>
              <a:t>Is the sum you found in part A a member of </a:t>
            </a:r>
            <a:r>
              <a:rPr lang="en-US" sz="1600" i="1" dirty="0" smtClean="0"/>
              <a:t>S</a:t>
            </a:r>
            <a:r>
              <a:rPr lang="en-US" sz="1600" dirty="0" smtClean="0"/>
              <a:t>? Explain.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1600" b="1" dirty="0">
                <a:solidFill>
                  <a:srgbClr val="C02B43"/>
                </a:solidFill>
              </a:rPr>
              <a:t>Construct Arguments </a:t>
            </a:r>
            <a:r>
              <a:rPr lang="en-US" sz="1600" dirty="0" smtClean="0"/>
              <a:t>Is </a:t>
            </a:r>
            <a:r>
              <a:rPr lang="en-US" sz="1600" dirty="0"/>
              <a:t>the product of two expressions in </a:t>
            </a:r>
            <a:r>
              <a:rPr lang="en-US" sz="1600" i="1" dirty="0"/>
              <a:t>S</a:t>
            </a:r>
            <a:r>
              <a:rPr lang="en-US" sz="1600" dirty="0"/>
              <a:t> </a:t>
            </a:r>
            <a:r>
              <a:rPr lang="en-US" sz="1600" dirty="0" smtClean="0"/>
              <a:t>also a member </a:t>
            </a:r>
            <a:r>
              <a:rPr lang="en-US" sz="1600" dirty="0"/>
              <a:t>of </a:t>
            </a:r>
            <a:r>
              <a:rPr lang="en-US" sz="1600" i="1" dirty="0" smtClean="0"/>
              <a:t>S</a:t>
            </a:r>
            <a:r>
              <a:rPr lang="en-US" sz="1600" dirty="0" smtClean="0"/>
              <a:t>? </a:t>
            </a:r>
            <a:r>
              <a:rPr lang="en-US" sz="1600" dirty="0"/>
              <a:t>Explain why or produce a counterexample.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AF09BFE-0C3C-E84B-9556-A66F805E246C}"/>
              </a:ext>
            </a:extLst>
          </p:cNvPr>
          <p:cNvSpPr/>
          <p:nvPr/>
        </p:nvSpPr>
        <p:spPr>
          <a:xfrm>
            <a:off x="452745" y="458341"/>
            <a:ext cx="2569129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US" sz="1800" b="1" dirty="0"/>
              <a:t>EXPLORE &amp; REASON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86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="" xmlns:a16="http://schemas.microsoft.com/office/drawing/2014/main" id="{069A29FC-C154-9D4D-B7D9-3B00886A3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11189"/>
              </p:ext>
            </p:extLst>
          </p:nvPr>
        </p:nvGraphicFramePr>
        <p:xfrm>
          <a:off x="443805" y="461818"/>
          <a:ext cx="8222675" cy="7675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22675">
                  <a:extLst>
                    <a:ext uri="{9D8B030D-6E8A-4147-A177-3AD203B41FA5}">
                      <a16:colId xmlns="" xmlns:a16="http://schemas.microsoft.com/office/drawing/2014/main" val="2383579709"/>
                    </a:ext>
                  </a:extLst>
                </a:gridCol>
              </a:tblGrid>
              <a:tr h="404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b="1" cap="all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Essential </a:t>
                      </a:r>
                      <a:r>
                        <a:rPr lang="en-IN" sz="1800" b="1" cap="all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</a:t>
                      </a:r>
                      <a:endParaRPr lang="en-US" sz="1800" cap="all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68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8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8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8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844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26677018"/>
                  </a:ext>
                </a:extLst>
              </a:tr>
              <a:tr h="362809">
                <a:tc>
                  <a:txBody>
                    <a:bodyPr/>
                    <a:lstStyle/>
                    <a:p>
                      <a:r>
                        <a:rPr lang="en-US" sz="1600" b="1" i="0" u="none" strike="noStrike" cap="none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How do you add, subtract, and multiply polynomials?</a:t>
                      </a:r>
                      <a:endParaRPr lang="en-US" sz="1600" b="1" spc="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8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73781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1380041"/>
            <a:ext cx="8453424" cy="1790234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Add and Subtract Polynomials</a:t>
            </a:r>
            <a:endParaRPr lang="en-IN" sz="1800" b="1" dirty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smtClean="0"/>
              <a:t>How </a:t>
            </a:r>
            <a:r>
              <a:rPr lang="en-US" sz="1600" b="1" dirty="0"/>
              <a:t>do you add or subtract the polynomials?</a:t>
            </a:r>
          </a:p>
          <a:p>
            <a:pPr>
              <a:spcAft>
                <a:spcPts val="1200"/>
              </a:spcAft>
            </a:pPr>
            <a:r>
              <a:rPr lang="en-US" dirty="0"/>
              <a:t>To add and subtract polynomials, use the Commutative and </a:t>
            </a:r>
            <a:r>
              <a:rPr lang="en-US" dirty="0" smtClean="0"/>
              <a:t>Associative Properties </a:t>
            </a:r>
            <a:r>
              <a:rPr lang="en-US" dirty="0"/>
              <a:t>to group like terms. Then combine like terms</a:t>
            </a:r>
            <a:r>
              <a:rPr lang="en-US" dirty="0" smtClean="0"/>
              <a:t>.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600" b="1" dirty="0">
                <a:solidFill>
                  <a:schemeClr val="tx1"/>
                </a:solidFill>
              </a:rPr>
              <a:t>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5" y="1414651"/>
            <a:ext cx="1480558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1</a:t>
            </a:r>
            <a:endParaRPr lang="en-US" sz="1800" cap="all" dirty="0"/>
          </a:p>
        </p:txBody>
      </p:sp>
      <p:sp>
        <p:nvSpPr>
          <p:cNvPr id="2" name="TextBox 1"/>
          <p:cNvSpPr txBox="1"/>
          <p:nvPr/>
        </p:nvSpPr>
        <p:spPr>
          <a:xfrm>
            <a:off x="670560" y="2754449"/>
            <a:ext cx="3807453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 smtClean="0"/>
              <a:t>(</a:t>
            </a:r>
            <a:r>
              <a:rPr lang="en-US" sz="1600" dirty="0" smtClean="0">
                <a:solidFill>
                  <a:srgbClr val="D92B30"/>
                </a:solidFill>
              </a:rPr>
              <a:t>6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/>
              <a:t> +</a:t>
            </a:r>
            <a:r>
              <a:rPr lang="en-US" sz="1600" dirty="0" smtClean="0">
                <a:solidFill>
                  <a:srgbClr val="256BB9"/>
                </a:solidFill>
              </a:rPr>
              <a:t> 4</a:t>
            </a:r>
            <a:r>
              <a:rPr lang="en-US" sz="1600" i="1" dirty="0" smtClean="0">
                <a:solidFill>
                  <a:srgbClr val="256BB9"/>
                </a:solidFill>
              </a:rPr>
              <a:t>x </a:t>
            </a:r>
            <a:r>
              <a:rPr lang="en-US" sz="1600" dirty="0"/>
              <a:t>+ 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90057A"/>
                </a:solidFill>
              </a:rPr>
              <a:t>− 7</a:t>
            </a:r>
            <a:r>
              <a:rPr lang="en-US" sz="1600" dirty="0" smtClean="0"/>
              <a:t>) + (</a:t>
            </a:r>
            <a:r>
              <a:rPr lang="en-US" sz="1600" dirty="0" smtClean="0">
                <a:solidFill>
                  <a:srgbClr val="D92B30"/>
                </a:solidFill>
              </a:rPr>
              <a:t>2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 smtClean="0">
                <a:solidFill>
                  <a:srgbClr val="168446"/>
                </a:solidFill>
              </a:rPr>
              <a:t> </a:t>
            </a:r>
            <a:r>
              <a:rPr lang="mr-IN" sz="1600" dirty="0" smtClean="0">
                <a:solidFill>
                  <a:srgbClr val="168446"/>
                </a:solidFill>
              </a:rPr>
              <a:t>–</a:t>
            </a:r>
            <a:r>
              <a:rPr lang="en-US" sz="1600" dirty="0" smtClean="0">
                <a:solidFill>
                  <a:srgbClr val="168446"/>
                </a:solidFill>
              </a:rPr>
              <a:t> 8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/>
              <a:t> </a:t>
            </a:r>
            <a:r>
              <a:rPr lang="en-US" sz="1600" dirty="0"/>
              <a:t>+ </a:t>
            </a:r>
            <a:r>
              <a:rPr lang="en-US" sz="1600" dirty="0" smtClean="0">
                <a:solidFill>
                  <a:srgbClr val="90057A"/>
                </a:solidFill>
              </a:rPr>
              <a:t>3</a:t>
            </a:r>
            <a:r>
              <a:rPr lang="en-US" sz="1600" dirty="0" smtClean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= </a:t>
            </a:r>
            <a:r>
              <a:rPr lang="en-US" sz="1600" dirty="0" smtClean="0"/>
              <a:t>(</a:t>
            </a:r>
            <a:r>
              <a:rPr lang="en-US" sz="1600" dirty="0" smtClean="0">
                <a:solidFill>
                  <a:srgbClr val="D92B30"/>
                </a:solidFill>
              </a:rPr>
              <a:t>6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 smtClean="0">
                <a:solidFill>
                  <a:srgbClr val="D92B30"/>
                </a:solidFill>
              </a:rPr>
              <a:t> </a:t>
            </a:r>
            <a:r>
              <a:rPr lang="en-US" sz="1600" dirty="0">
                <a:solidFill>
                  <a:srgbClr val="D92B30"/>
                </a:solidFill>
              </a:rPr>
              <a:t>+ </a:t>
            </a:r>
            <a:r>
              <a:rPr lang="en-US" sz="1600" dirty="0" smtClean="0">
                <a:solidFill>
                  <a:srgbClr val="D92B30"/>
                </a:solidFill>
              </a:rPr>
              <a:t>2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 smtClean="0"/>
              <a:t>) </a:t>
            </a:r>
            <a:r>
              <a:rPr lang="en-US" sz="1600" dirty="0"/>
              <a:t>+ </a:t>
            </a:r>
            <a:r>
              <a:rPr lang="en-US" sz="1600" dirty="0">
                <a:solidFill>
                  <a:srgbClr val="256BB9"/>
                </a:solidFill>
              </a:rPr>
              <a:t>4</a:t>
            </a:r>
            <a:r>
              <a:rPr lang="en-US" sz="1600" i="1" dirty="0">
                <a:solidFill>
                  <a:srgbClr val="256BB9"/>
                </a:solidFill>
              </a:rPr>
              <a:t>x</a:t>
            </a:r>
            <a:r>
              <a:rPr lang="en-US" sz="1600" i="1" dirty="0"/>
              <a:t> </a:t>
            </a:r>
            <a:r>
              <a:rPr lang="en-US" sz="1600" dirty="0"/>
              <a:t>+ </a:t>
            </a:r>
            <a:r>
              <a:rPr lang="en-US" sz="1600" dirty="0" smtClean="0"/>
              <a:t>(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>
                <a:solidFill>
                  <a:srgbClr val="168446"/>
                </a:solidFill>
              </a:rPr>
              <a:t> </a:t>
            </a:r>
            <a:r>
              <a:rPr lang="en-US" sz="1600" dirty="0">
                <a:solidFill>
                  <a:srgbClr val="168446"/>
                </a:solidFill>
              </a:rPr>
              <a:t>− </a:t>
            </a:r>
            <a:r>
              <a:rPr lang="en-US" sz="1600" dirty="0" smtClean="0">
                <a:solidFill>
                  <a:srgbClr val="168446"/>
                </a:solidFill>
              </a:rPr>
              <a:t>8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/>
              <a:t>) </a:t>
            </a:r>
            <a:r>
              <a:rPr lang="en-US" sz="1600" dirty="0"/>
              <a:t>+ (</a:t>
            </a:r>
            <a:r>
              <a:rPr lang="en-US" sz="1600" dirty="0">
                <a:solidFill>
                  <a:srgbClr val="90057A"/>
                </a:solidFill>
              </a:rPr>
              <a:t>−7 + 3</a:t>
            </a:r>
            <a:r>
              <a:rPr lang="en-US" sz="1600" dirty="0" smtClean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= </a:t>
            </a:r>
            <a:r>
              <a:rPr lang="en-US" sz="1600" dirty="0" smtClean="0">
                <a:solidFill>
                  <a:srgbClr val="D92B30"/>
                </a:solidFill>
              </a:rPr>
              <a:t>8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168446"/>
                </a:solidFill>
              </a:rPr>
              <a:t>+</a:t>
            </a:r>
            <a:r>
              <a:rPr lang="en-US" sz="1600" dirty="0" smtClean="0"/>
              <a:t> </a:t>
            </a:r>
            <a:r>
              <a:rPr lang="en-US" sz="1600" dirty="0">
                <a:solidFill>
                  <a:srgbClr val="256BB9"/>
                </a:solidFill>
              </a:rPr>
              <a:t>4</a:t>
            </a:r>
            <a:r>
              <a:rPr lang="en-US" sz="1600" i="1" dirty="0">
                <a:solidFill>
                  <a:srgbClr val="256BB9"/>
                </a:solidFill>
              </a:rPr>
              <a:t>x</a:t>
            </a:r>
            <a:r>
              <a:rPr lang="en-US" sz="1600" i="1" dirty="0"/>
              <a:t> </a:t>
            </a:r>
            <a:r>
              <a:rPr lang="en-US" sz="1600" dirty="0">
                <a:solidFill>
                  <a:srgbClr val="168446"/>
                </a:solidFill>
              </a:rPr>
              <a:t>−</a:t>
            </a:r>
            <a:r>
              <a:rPr lang="en-US" sz="1600" dirty="0"/>
              <a:t> </a:t>
            </a:r>
            <a:r>
              <a:rPr lang="en-US" sz="1600" dirty="0" smtClean="0">
                <a:solidFill>
                  <a:srgbClr val="168446"/>
                </a:solidFill>
              </a:rPr>
              <a:t>7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/>
              <a:t> </a:t>
            </a:r>
            <a:r>
              <a:rPr lang="en-US" sz="1600" dirty="0">
                <a:solidFill>
                  <a:srgbClr val="90057A"/>
                </a:solidFill>
              </a:rPr>
              <a:t>− </a:t>
            </a:r>
            <a:r>
              <a:rPr lang="en-US" sz="1600" dirty="0" smtClean="0">
                <a:solidFill>
                  <a:srgbClr val="90057A"/>
                </a:solidFill>
              </a:rPr>
              <a:t>4</a:t>
            </a:r>
          </a:p>
          <a:p>
            <a:r>
              <a:rPr lang="en-US" sz="1600" dirty="0"/>
              <a:t>= </a:t>
            </a:r>
            <a:r>
              <a:rPr lang="en-US" sz="1600" dirty="0" smtClean="0">
                <a:solidFill>
                  <a:srgbClr val="D92B30"/>
                </a:solidFill>
              </a:rPr>
              <a:t>8</a:t>
            </a:r>
            <a:r>
              <a:rPr lang="en-US" sz="1600" i="1" dirty="0" smtClean="0">
                <a:solidFill>
                  <a:srgbClr val="D92B30"/>
                </a:solidFill>
              </a:rPr>
              <a:t>x</a:t>
            </a:r>
            <a:r>
              <a:rPr lang="en-US" sz="1600" baseline="30000" dirty="0" smtClean="0">
                <a:solidFill>
                  <a:srgbClr val="D92B30"/>
                </a:solidFill>
              </a:rPr>
              <a:t>3</a:t>
            </a:r>
            <a:r>
              <a:rPr lang="en-US" sz="1600" dirty="0" smtClean="0"/>
              <a:t> </a:t>
            </a:r>
            <a:r>
              <a:rPr lang="en-US" sz="1600" dirty="0">
                <a:solidFill>
                  <a:srgbClr val="168446"/>
                </a:solidFill>
              </a:rPr>
              <a:t>−</a:t>
            </a:r>
            <a:r>
              <a:rPr lang="en-US" sz="1600" dirty="0"/>
              <a:t> </a:t>
            </a:r>
            <a:r>
              <a:rPr lang="en-US" sz="1600" dirty="0" smtClean="0">
                <a:solidFill>
                  <a:srgbClr val="168446"/>
                </a:solidFill>
              </a:rPr>
              <a:t>7</a:t>
            </a:r>
            <a:r>
              <a:rPr lang="en-US" sz="1600" i="1" dirty="0" smtClean="0">
                <a:solidFill>
                  <a:srgbClr val="168446"/>
                </a:solidFill>
              </a:rPr>
              <a:t>x</a:t>
            </a:r>
            <a:r>
              <a:rPr lang="en-US" sz="1600" baseline="30000" dirty="0" smtClean="0">
                <a:solidFill>
                  <a:srgbClr val="168446"/>
                </a:solidFill>
              </a:rPr>
              <a:t>2</a:t>
            </a:r>
            <a:r>
              <a:rPr lang="en-US" sz="1600" dirty="0" smtClean="0"/>
              <a:t> </a:t>
            </a:r>
            <a:r>
              <a:rPr lang="en-US" sz="1600" dirty="0">
                <a:solidFill>
                  <a:srgbClr val="256BB9"/>
                </a:solidFill>
              </a:rPr>
              <a:t>+ 4</a:t>
            </a:r>
            <a:r>
              <a:rPr lang="en-US" sz="1600" i="1" dirty="0">
                <a:solidFill>
                  <a:srgbClr val="256BB9"/>
                </a:solidFill>
              </a:rPr>
              <a:t>x</a:t>
            </a:r>
            <a:r>
              <a:rPr lang="en-US" sz="1600" i="1" dirty="0"/>
              <a:t> </a:t>
            </a:r>
            <a:r>
              <a:rPr lang="en-US" sz="1600" dirty="0">
                <a:solidFill>
                  <a:srgbClr val="90057A"/>
                </a:solidFill>
              </a:rPr>
              <a:t>− 4</a:t>
            </a:r>
          </a:p>
        </p:txBody>
      </p:sp>
      <p:pic>
        <p:nvPicPr>
          <p:cNvPr id="1027" name="Picture 3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613" y="2810123"/>
            <a:ext cx="1992074" cy="96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2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19" y="1192126"/>
            <a:ext cx="7018421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398716"/>
            <a:ext cx="8453424" cy="1143903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Add and Subtract Polynomials</a:t>
            </a:r>
            <a:endParaRPr lang="en-IN" sz="1800" b="1" dirty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smtClean="0"/>
              <a:t>How </a:t>
            </a:r>
            <a:r>
              <a:rPr lang="en-US" sz="1600" b="1" dirty="0"/>
              <a:t>do you add or subtract the polynomials?</a:t>
            </a:r>
          </a:p>
          <a:p>
            <a:pPr marL="342900" indent="-342900">
              <a:buFont typeface="+mj-lt"/>
              <a:buAutoNum type="alphaUcPeriod" startAt="2"/>
            </a:pPr>
            <a:r>
              <a:rPr lang="en-IN" sz="1600" b="1" dirty="0">
                <a:solidFill>
                  <a:schemeClr val="tx1"/>
                </a:solidFill>
              </a:rPr>
              <a:t>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5" y="433326"/>
            <a:ext cx="1480558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1</a:t>
            </a:r>
            <a:endParaRPr lang="en-US" sz="1800" cap="all" dirty="0"/>
          </a:p>
        </p:txBody>
      </p:sp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8F64C450-5A2A-B44B-B667-D61D459945DB}"/>
              </a:ext>
            </a:extLst>
          </p:cNvPr>
          <p:cNvSpPr/>
          <p:nvPr/>
        </p:nvSpPr>
        <p:spPr>
          <a:xfrm>
            <a:off x="445219" y="4754041"/>
            <a:ext cx="7440326" cy="683861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C02B43"/>
                </a:solidFill>
                <a:cs typeface="Arial"/>
              </a:rPr>
              <a:t>USE STRUCTURE</a:t>
            </a:r>
            <a:endParaRPr lang="en-US" sz="1200" b="1" dirty="0" smtClean="0">
              <a:solidFill>
                <a:srgbClr val="C02B43"/>
              </a:solidFill>
              <a:latin typeface="Arial"/>
              <a:cs typeface="Arial"/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In </a:t>
            </a:r>
            <a:r>
              <a:rPr lang="en-US" sz="1200" dirty="0">
                <a:solidFill>
                  <a:schemeClr val="tx1"/>
                </a:solidFill>
              </a:rPr>
              <a:t>order for terms to be </a:t>
            </a:r>
            <a:r>
              <a:rPr lang="en-US" sz="1200" i="1" dirty="0" smtClean="0">
                <a:solidFill>
                  <a:schemeClr val="tx1"/>
                </a:solidFill>
              </a:rPr>
              <a:t>like terms</a:t>
            </a:r>
            <a:r>
              <a:rPr lang="en-US" sz="1200" dirty="0" smtClean="0">
                <a:solidFill>
                  <a:schemeClr val="tx1"/>
                </a:solidFill>
              </a:rPr>
              <a:t>, </a:t>
            </a:r>
            <a:r>
              <a:rPr lang="en-US" sz="1200" dirty="0">
                <a:solidFill>
                  <a:schemeClr val="tx1"/>
                </a:solidFill>
              </a:rPr>
              <a:t>the variables and </a:t>
            </a:r>
            <a:r>
              <a:rPr lang="en-US" sz="1200" dirty="0" smtClean="0">
                <a:solidFill>
                  <a:schemeClr val="tx1"/>
                </a:solidFill>
              </a:rPr>
              <a:t>their corresponding </a:t>
            </a:r>
            <a:r>
              <a:rPr lang="en-US" sz="1200" dirty="0">
                <a:solidFill>
                  <a:schemeClr val="tx1"/>
                </a:solidFill>
              </a:rPr>
              <a:t>exponents </a:t>
            </a:r>
            <a:r>
              <a:rPr lang="en-US" sz="1200" dirty="0" smtClean="0">
                <a:solidFill>
                  <a:schemeClr val="tx1"/>
                </a:solidFill>
              </a:rPr>
              <a:t>must </a:t>
            </a:r>
            <a:r>
              <a:rPr lang="it-IT" sz="1200" dirty="0" smtClean="0">
                <a:solidFill>
                  <a:schemeClr val="tx1"/>
                </a:solidFill>
              </a:rPr>
              <a:t>be </a:t>
            </a:r>
            <a:r>
              <a:rPr lang="it-IT" sz="1200" dirty="0" err="1">
                <a:solidFill>
                  <a:schemeClr val="tx1"/>
                </a:solidFill>
              </a:rPr>
              <a:t>identical</a:t>
            </a:r>
            <a:r>
              <a:rPr lang="it-IT" sz="1200" dirty="0">
                <a:solidFill>
                  <a:schemeClr val="tx1"/>
                </a:solidFill>
              </a:rPr>
              <a:t>.</a:t>
            </a:r>
            <a:endParaRPr lang="en-IN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71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422051"/>
            <a:ext cx="8341433" cy="2644314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2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Add and Subtract Polynomials</a:t>
            </a:r>
            <a:endParaRPr lang="en-IN" sz="1800" b="1" dirty="0">
              <a:solidFill>
                <a:srgbClr val="58585A"/>
              </a:solidFill>
            </a:endParaRPr>
          </a:p>
          <a:p>
            <a:pPr marL="1476375" indent="-1466850">
              <a:spcAft>
                <a:spcPts val="600"/>
              </a:spcAft>
              <a:tabLst>
                <a:tab pos="1062038" algn="l"/>
                <a:tab pos="1465263" algn="l"/>
              </a:tabLst>
            </a:pPr>
            <a:r>
              <a:rPr lang="en-IN" sz="1800" b="1" dirty="0">
                <a:solidFill>
                  <a:srgbClr val="D92B31"/>
                </a:solidFill>
              </a:rPr>
              <a:t>Try It!</a:t>
            </a:r>
            <a:endParaRPr lang="en-IN" sz="18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700"/>
              </a:spcAft>
              <a:buFont typeface="+mj-lt"/>
              <a:buAutoNum type="arabicPeriod"/>
            </a:pPr>
            <a:r>
              <a:rPr lang="en-IN" sz="1600" b="1" dirty="0"/>
              <a:t>​</a:t>
            </a:r>
            <a:r>
              <a:rPr lang="en-US" sz="1600" dirty="0"/>
              <a:t> </a:t>
            </a:r>
            <a:r>
              <a:rPr lang="en-US" sz="1600" dirty="0" smtClean="0"/>
              <a:t>Add </a:t>
            </a:r>
            <a:r>
              <a:rPr lang="en-US" sz="1600" dirty="0"/>
              <a:t>or subtract the polynomials.</a:t>
            </a:r>
            <a:endParaRPr lang="en-US" sz="1600" dirty="0" smtClean="0"/>
          </a:p>
          <a:p>
            <a:pPr marL="720000" indent="-360000">
              <a:spcAft>
                <a:spcPts val="1800"/>
              </a:spcAft>
              <a:buAutoNum type="alphaLcPeriod"/>
              <a:tabLst>
                <a:tab pos="1103313" algn="l"/>
              </a:tabLst>
            </a:pPr>
            <a:r>
              <a:rPr lang="en-IN" sz="1600" b="1" dirty="0" smtClean="0"/>
              <a:t>​​</a:t>
            </a:r>
            <a:r>
              <a:rPr lang="pt-BR" sz="1600" dirty="0" smtClean="0"/>
              <a:t>(4</a:t>
            </a:r>
            <a:r>
              <a:rPr lang="pt-BR" sz="1600" i="1" dirty="0" smtClean="0"/>
              <a:t>a</a:t>
            </a:r>
            <a:r>
              <a:rPr lang="pt-BR" sz="1600" baseline="30000" dirty="0" smtClean="0"/>
              <a:t>4</a:t>
            </a:r>
            <a:r>
              <a:rPr lang="pt-BR" sz="1600" dirty="0" smtClean="0"/>
              <a:t> </a:t>
            </a:r>
            <a:r>
              <a:rPr lang="pt-BR" sz="1600" dirty="0"/>
              <a:t>− </a:t>
            </a:r>
            <a:r>
              <a:rPr lang="pt-BR" sz="1600" dirty="0" smtClean="0"/>
              <a:t>6</a:t>
            </a:r>
            <a:r>
              <a:rPr lang="pt-BR" sz="1600" i="1" dirty="0" smtClean="0"/>
              <a:t>a</a:t>
            </a:r>
            <a:r>
              <a:rPr lang="pt-BR" sz="1600" baseline="30000" dirty="0" smtClean="0"/>
              <a:t>3</a:t>
            </a:r>
            <a:r>
              <a:rPr lang="pt-BR" sz="1600" dirty="0" smtClean="0"/>
              <a:t> </a:t>
            </a:r>
            <a:r>
              <a:rPr lang="pt-BR" sz="1600" dirty="0"/>
              <a:t>− </a:t>
            </a:r>
            <a:r>
              <a:rPr lang="pt-BR" sz="1600" dirty="0" smtClean="0"/>
              <a:t>3</a:t>
            </a:r>
            <a:r>
              <a:rPr lang="pt-BR" sz="1600" i="1" dirty="0" smtClean="0"/>
              <a:t>a</a:t>
            </a:r>
            <a:r>
              <a:rPr lang="pt-BR" sz="1600" baseline="30000" dirty="0" smtClean="0"/>
              <a:t>2</a:t>
            </a:r>
            <a:r>
              <a:rPr lang="pt-BR" sz="1600" dirty="0" smtClean="0"/>
              <a:t> </a:t>
            </a:r>
            <a:r>
              <a:rPr lang="pt-BR" sz="1600" dirty="0"/>
              <a:t>+ </a:t>
            </a:r>
            <a:r>
              <a:rPr lang="pt-BR" sz="1600" i="1" dirty="0"/>
              <a:t>a </a:t>
            </a:r>
            <a:r>
              <a:rPr lang="pt-BR" sz="1600" dirty="0"/>
              <a:t>+ 1) + </a:t>
            </a:r>
            <a:r>
              <a:rPr lang="pt-BR" sz="1600" dirty="0" smtClean="0"/>
              <a:t>(5</a:t>
            </a:r>
            <a:r>
              <a:rPr lang="pt-BR" sz="1600" i="1" dirty="0" smtClean="0"/>
              <a:t>a</a:t>
            </a:r>
            <a:r>
              <a:rPr lang="pt-BR" sz="1600" baseline="30000" dirty="0" smtClean="0"/>
              <a:t>3</a:t>
            </a:r>
            <a:r>
              <a:rPr lang="pt-BR" sz="1600" dirty="0" smtClean="0"/>
              <a:t> </a:t>
            </a:r>
            <a:r>
              <a:rPr lang="pt-BR" sz="1600" dirty="0"/>
              <a:t>+ </a:t>
            </a:r>
            <a:r>
              <a:rPr lang="pt-BR" sz="1600" dirty="0" smtClean="0"/>
              <a:t>7</a:t>
            </a:r>
            <a:r>
              <a:rPr lang="pt-BR" sz="1600" i="1" dirty="0" smtClean="0"/>
              <a:t>a</a:t>
            </a:r>
            <a:r>
              <a:rPr lang="pt-BR" sz="1600" baseline="30000" dirty="0" smtClean="0"/>
              <a:t>2</a:t>
            </a:r>
            <a:r>
              <a:rPr lang="pt-BR" sz="1600" dirty="0" smtClean="0"/>
              <a:t> </a:t>
            </a:r>
            <a:r>
              <a:rPr lang="pt-BR" sz="1600" dirty="0"/>
              <a:t>+ 2</a:t>
            </a:r>
            <a:r>
              <a:rPr lang="pt-BR" sz="1600" i="1" dirty="0"/>
              <a:t>a </a:t>
            </a:r>
            <a:r>
              <a:rPr lang="pt-BR" sz="1600" dirty="0"/>
              <a:t>− 2)</a:t>
            </a:r>
            <a:endParaRPr lang="en-IN" sz="1600" b="1" dirty="0" smtClean="0"/>
          </a:p>
          <a:p>
            <a:pPr marL="720000" indent="-360000">
              <a:spcAft>
                <a:spcPts val="1800"/>
              </a:spcAft>
              <a:buFont typeface="Arial"/>
              <a:buAutoNum type="alphaLcPeriod"/>
              <a:tabLst>
                <a:tab pos="1103313" algn="l"/>
              </a:tabLst>
            </a:pPr>
            <a:r>
              <a:rPr lang="en-IN" sz="1600" b="1" dirty="0"/>
              <a:t>​</a:t>
            </a:r>
            <a:r>
              <a:rPr lang="mr-IN" sz="1600" dirty="0" smtClean="0"/>
              <a:t>(2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i="1" dirty="0" smtClean="0"/>
              <a:t>b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+3a</a:t>
            </a:r>
            <a:r>
              <a:rPr lang="mr-IN" sz="1600" i="1" dirty="0" smtClean="0"/>
              <a:t>b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−</a:t>
            </a:r>
            <a:r>
              <a:rPr lang="en-US" sz="1600" dirty="0" smtClean="0"/>
              <a:t> </a:t>
            </a:r>
            <a:r>
              <a:rPr lang="mr-IN" sz="1600" dirty="0" smtClean="0"/>
              <a:t>5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i="1" dirty="0" smtClean="0"/>
              <a:t>b</a:t>
            </a:r>
            <a:r>
              <a:rPr lang="mr-IN" sz="1600" dirty="0" smtClean="0"/>
              <a:t>) </a:t>
            </a:r>
            <a:r>
              <a:rPr lang="mr-IN" sz="1600" dirty="0"/>
              <a:t>− </a:t>
            </a:r>
            <a:r>
              <a:rPr lang="mr-IN" sz="1600" dirty="0" smtClean="0"/>
              <a:t>(3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i="1" dirty="0"/>
              <a:t>b</a:t>
            </a:r>
            <a:r>
              <a:rPr lang="mr-IN" sz="1600" baseline="30000" dirty="0"/>
              <a:t>2</a:t>
            </a:r>
            <a:r>
              <a:rPr lang="mr-IN" sz="1600" dirty="0" smtClean="0"/>
              <a:t> </a:t>
            </a:r>
            <a:r>
              <a:rPr lang="mr-IN" sz="1600" dirty="0"/>
              <a:t>− </a:t>
            </a:r>
            <a:r>
              <a:rPr lang="mr-IN" sz="1600" dirty="0" smtClean="0"/>
              <a:t>9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i="1" dirty="0" smtClean="0"/>
              <a:t>b</a:t>
            </a:r>
            <a:r>
              <a:rPr lang="mr-IN" sz="1600" dirty="0" smtClean="0"/>
              <a:t> </a:t>
            </a:r>
            <a:r>
              <a:rPr lang="mr-IN" sz="1600" dirty="0"/>
              <a:t>+ </a:t>
            </a:r>
            <a:r>
              <a:rPr lang="mr-IN" sz="1600" dirty="0" smtClean="0"/>
              <a:t>7</a:t>
            </a:r>
            <a:r>
              <a:rPr lang="mr-IN" sz="1600" i="1" dirty="0" smtClean="0"/>
              <a:t>ab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)</a:t>
            </a:r>
            <a:endParaRPr lang="en-IN" sz="1600" baseline="30000" dirty="0">
              <a:solidFill>
                <a:schemeClr val="tx1"/>
              </a:solidFill>
            </a:endParaRPr>
          </a:p>
          <a:p>
            <a:pPr marL="720000" indent="-360000">
              <a:spcAft>
                <a:spcPts val="600"/>
              </a:spcAft>
              <a:buFont typeface="Arial"/>
              <a:buAutoNum type="alphaLcPeriod"/>
              <a:tabLst>
                <a:tab pos="1103313" algn="l"/>
              </a:tabLst>
            </a:pPr>
            <a:r>
              <a:rPr lang="en-IN" sz="1600" b="1" dirty="0" smtClean="0"/>
              <a:t>​</a:t>
            </a:r>
            <a:r>
              <a:rPr lang="pt-BR" sz="1600" dirty="0" smtClean="0"/>
              <a:t>(3.4</a:t>
            </a:r>
            <a:r>
              <a:rPr lang="pt-BR" sz="1600" i="1" dirty="0" smtClean="0"/>
              <a:t>m</a:t>
            </a:r>
            <a:r>
              <a:rPr lang="pt-BR" sz="1600" baseline="30000" dirty="0" smtClean="0"/>
              <a:t>3</a:t>
            </a:r>
            <a:r>
              <a:rPr lang="pt-BR" sz="1600" i="1" dirty="0" smtClean="0"/>
              <a:t>n</a:t>
            </a:r>
            <a:r>
              <a:rPr lang="pt-BR" sz="1600" baseline="30000" dirty="0" smtClean="0"/>
              <a:t>2</a:t>
            </a:r>
            <a:r>
              <a:rPr lang="pt-BR" sz="1600" dirty="0" smtClean="0"/>
              <a:t> </a:t>
            </a:r>
            <a:r>
              <a:rPr lang="pt-BR" sz="1600" dirty="0"/>
              <a:t>+ </a:t>
            </a:r>
            <a:r>
              <a:rPr lang="pt-BR" sz="1600" dirty="0" smtClean="0"/>
              <a:t>5.6</a:t>
            </a:r>
            <a:r>
              <a:rPr lang="pt-BR" sz="1600" i="1" dirty="0" smtClean="0"/>
              <a:t>m</a:t>
            </a:r>
            <a:r>
              <a:rPr lang="pt-BR" sz="1600" baseline="30000" dirty="0" smtClean="0"/>
              <a:t>2</a:t>
            </a:r>
            <a:r>
              <a:rPr lang="pt-BR" sz="1600" i="1" dirty="0" smtClean="0"/>
              <a:t>n</a:t>
            </a:r>
            <a:r>
              <a:rPr lang="pt-BR" sz="1600" dirty="0"/>
              <a:t>) − (</a:t>
            </a:r>
            <a:r>
              <a:rPr lang="pt-BR" sz="1600" dirty="0" smtClean="0"/>
              <a:t>0.7</a:t>
            </a:r>
            <a:r>
              <a:rPr lang="pt-BR" sz="1600" i="1" dirty="0" smtClean="0"/>
              <a:t>m</a:t>
            </a:r>
            <a:r>
              <a:rPr lang="pt-BR" sz="1600" baseline="30000" dirty="0" smtClean="0"/>
              <a:t>3</a:t>
            </a:r>
            <a:r>
              <a:rPr lang="pt-BR" sz="1600" i="1" dirty="0" smtClean="0"/>
              <a:t>n</a:t>
            </a:r>
            <a:r>
              <a:rPr lang="pt-BR" sz="1600" baseline="30000" dirty="0" smtClean="0"/>
              <a:t>2</a:t>
            </a:r>
            <a:r>
              <a:rPr lang="pt-BR" sz="1600" dirty="0" smtClean="0"/>
              <a:t> </a:t>
            </a:r>
            <a:r>
              <a:rPr lang="pt-BR" sz="1600" dirty="0"/>
              <a:t>− </a:t>
            </a:r>
            <a:r>
              <a:rPr lang="pt-BR" sz="1600" dirty="0" smtClean="0"/>
              <a:t>4.1</a:t>
            </a:r>
            <a:r>
              <a:rPr lang="pt-BR" sz="1600" i="1" dirty="0" smtClean="0"/>
              <a:t>m</a:t>
            </a:r>
            <a:r>
              <a:rPr lang="pt-BR" sz="1600" baseline="30000" dirty="0" smtClean="0"/>
              <a:t>2</a:t>
            </a:r>
            <a:r>
              <a:rPr lang="pt-BR" sz="1600" i="1" dirty="0" smtClean="0"/>
              <a:t>n </a:t>
            </a:r>
            <a:r>
              <a:rPr lang="pt-BR" sz="1600" dirty="0"/>
              <a:t>− </a:t>
            </a:r>
            <a:r>
              <a:rPr lang="pt-BR" sz="1600" i="1" dirty="0"/>
              <a:t>n</a:t>
            </a:r>
            <a:r>
              <a:rPr lang="pt-BR" sz="1600" dirty="0"/>
              <a:t>) +</a:t>
            </a:r>
            <a:endParaRPr lang="en-US" sz="1600" dirty="0" smtClean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31B7182A-C8F1-EE46-81E8-5086BBD1F876}"/>
              </a:ext>
            </a:extLst>
          </p:cNvPr>
          <p:cNvCxnSpPr/>
          <p:nvPr/>
        </p:nvCxnSpPr>
        <p:spPr>
          <a:xfrm>
            <a:off x="425301" y="894900"/>
            <a:ext cx="8304028" cy="0"/>
          </a:xfrm>
          <a:prstGeom prst="line">
            <a:avLst/>
          </a:prstGeom>
          <a:ln w="25400">
            <a:solidFill>
              <a:srgbClr val="0078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28C062-BEFD-C343-AA04-1BF22FA999C7}"/>
              </a:ext>
            </a:extLst>
          </p:cNvPr>
          <p:cNvSpPr/>
          <p:nvPr/>
        </p:nvSpPr>
        <p:spPr>
          <a:xfrm>
            <a:off x="452746" y="464612"/>
            <a:ext cx="1489266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1</a:t>
            </a:r>
            <a:endParaRPr lang="en-US" sz="1800" cap="all" dirty="0"/>
          </a:p>
        </p:txBody>
      </p:sp>
      <p:pic>
        <p:nvPicPr>
          <p:cNvPr id="3074" name="Picture 2" descr="C:\Users\beenu\Desktop\images\Screenshot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892" y="2676508"/>
            <a:ext cx="2172656" cy="36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11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381751"/>
            <a:ext cx="8321209" cy="3021340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Multiply </a:t>
            </a:r>
            <a:r>
              <a:rPr lang="en-US" sz="1800" b="1" dirty="0" smtClean="0">
                <a:solidFill>
                  <a:srgbClr val="58585A"/>
                </a:solidFill>
              </a:rPr>
              <a:t>Polynomials</a:t>
            </a:r>
          </a:p>
          <a:p>
            <a:pPr>
              <a:spcAft>
                <a:spcPts val="1200"/>
              </a:spcAft>
            </a:pPr>
            <a:r>
              <a:rPr lang="en-US" sz="1600" b="1" dirty="0"/>
              <a:t>How do you multiply the polynomials</a:t>
            </a:r>
            <a:r>
              <a:rPr lang="en-US" sz="1600" b="1" dirty="0" smtClean="0"/>
              <a:t>?</a:t>
            </a:r>
          </a:p>
          <a:p>
            <a:pPr>
              <a:spcAft>
                <a:spcPts val="1200"/>
              </a:spcAft>
            </a:pPr>
            <a:r>
              <a:rPr lang="en-US" dirty="0" smtClean="0"/>
              <a:t>To multiply polynomials, use the Distributive Property, then group like terms and combine.</a:t>
            </a:r>
          </a:p>
          <a:p>
            <a:pPr marL="290513" indent="-290513">
              <a:buFont typeface="+mj-lt"/>
              <a:buAutoNum type="alphaUcPeriod"/>
            </a:pPr>
            <a:r>
              <a:rPr lang="en-IN" b="1" dirty="0" smtClean="0">
                <a:solidFill>
                  <a:schemeClr val="tx1"/>
                </a:solidFill>
              </a:rPr>
              <a:t>​</a:t>
            </a:r>
            <a:r>
              <a:rPr lang="en-US" dirty="0"/>
              <a:t> (</a:t>
            </a:r>
            <a:r>
              <a:rPr lang="en-US" b="1" dirty="0">
                <a:solidFill>
                  <a:srgbClr val="D92B30"/>
                </a:solidFill>
              </a:rPr>
              <a:t>2</a:t>
            </a:r>
            <a:r>
              <a:rPr lang="en-US" b="1" i="1" dirty="0">
                <a:solidFill>
                  <a:srgbClr val="D92B30"/>
                </a:solidFill>
              </a:rPr>
              <a:t>m </a:t>
            </a:r>
            <a:r>
              <a:rPr lang="en-US" b="1" dirty="0"/>
              <a:t>+ </a:t>
            </a:r>
            <a:r>
              <a:rPr lang="en-US" b="1" dirty="0">
                <a:solidFill>
                  <a:srgbClr val="256BB9"/>
                </a:solidFill>
              </a:rPr>
              <a:t>5</a:t>
            </a:r>
            <a:r>
              <a:rPr lang="en-US" dirty="0"/>
              <a:t>) </a:t>
            </a:r>
            <a:r>
              <a:rPr lang="en-US" dirty="0" smtClean="0"/>
              <a:t>(</a:t>
            </a:r>
            <a:r>
              <a:rPr lang="en-US" b="1" dirty="0" smtClean="0"/>
              <a:t>3</a:t>
            </a:r>
            <a:r>
              <a:rPr lang="en-US" b="1" i="1" dirty="0" smtClean="0"/>
              <a:t>m</a:t>
            </a:r>
            <a:r>
              <a:rPr lang="en-US" b="1" baseline="30000" dirty="0" smtClean="0"/>
              <a:t>2</a:t>
            </a:r>
            <a:r>
              <a:rPr lang="en-US" b="1" dirty="0" smtClean="0"/>
              <a:t> </a:t>
            </a:r>
            <a:r>
              <a:rPr lang="en-US" b="1" dirty="0"/>
              <a:t>− 4</a:t>
            </a:r>
            <a:r>
              <a:rPr lang="en-US" b="1" i="1" dirty="0"/>
              <a:t>m </a:t>
            </a:r>
            <a:r>
              <a:rPr lang="en-US" b="1" dirty="0"/>
              <a:t>+ 2</a:t>
            </a:r>
            <a:r>
              <a:rPr lang="en-US" dirty="0"/>
              <a:t>)</a:t>
            </a:r>
          </a:p>
          <a:p>
            <a:pPr marL="688975" indent="-688975">
              <a:spcAft>
                <a:spcPts val="600"/>
              </a:spcAft>
            </a:pPr>
            <a:r>
              <a:rPr lang="en-US" dirty="0" smtClean="0"/>
              <a:t>	= </a:t>
            </a:r>
            <a:r>
              <a:rPr lang="en-US" dirty="0" smtClean="0">
                <a:solidFill>
                  <a:srgbClr val="D92B30"/>
                </a:solidFill>
              </a:rPr>
              <a:t>2</a:t>
            </a:r>
            <a:r>
              <a:rPr lang="en-US" i="1" dirty="0" smtClean="0">
                <a:solidFill>
                  <a:srgbClr val="D92B30"/>
                </a:solidFill>
              </a:rPr>
              <a:t>m</a:t>
            </a:r>
            <a:r>
              <a:rPr lang="en-US" dirty="0" smtClean="0"/>
              <a:t>(3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− 4</a:t>
            </a:r>
            <a:r>
              <a:rPr lang="en-US" i="1" dirty="0"/>
              <a:t>m </a:t>
            </a:r>
            <a:r>
              <a:rPr lang="en-US" dirty="0"/>
              <a:t>+ 2) + </a:t>
            </a:r>
            <a:r>
              <a:rPr lang="en-US" dirty="0" smtClean="0">
                <a:solidFill>
                  <a:srgbClr val="256BB9"/>
                </a:solidFill>
              </a:rPr>
              <a:t>5</a:t>
            </a:r>
            <a:r>
              <a:rPr lang="en-US" dirty="0" smtClean="0"/>
              <a:t>(3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− 4</a:t>
            </a:r>
            <a:r>
              <a:rPr lang="en-US" i="1" dirty="0"/>
              <a:t>m </a:t>
            </a:r>
            <a:r>
              <a:rPr lang="en-US" dirty="0"/>
              <a:t>+ 2)</a:t>
            </a:r>
          </a:p>
          <a:p>
            <a:pPr marL="688975" indent="-688975">
              <a:spcAft>
                <a:spcPts val="600"/>
              </a:spcAft>
            </a:pPr>
            <a:r>
              <a:rPr lang="en-US" dirty="0" smtClean="0"/>
              <a:t>	= </a:t>
            </a:r>
            <a:r>
              <a:rPr lang="en-US" dirty="0" smtClean="0">
                <a:solidFill>
                  <a:srgbClr val="D92B30"/>
                </a:solidFill>
              </a:rPr>
              <a:t>6</a:t>
            </a:r>
            <a:r>
              <a:rPr lang="en-US" i="1" dirty="0" smtClean="0">
                <a:solidFill>
                  <a:srgbClr val="D92B30"/>
                </a:solidFill>
              </a:rPr>
              <a:t>m</a:t>
            </a:r>
            <a:r>
              <a:rPr lang="en-US" baseline="30000" dirty="0" smtClean="0">
                <a:solidFill>
                  <a:srgbClr val="D92B30"/>
                </a:solidFill>
              </a:rPr>
              <a:t>3</a:t>
            </a:r>
            <a:r>
              <a:rPr lang="en-US" dirty="0" smtClean="0">
                <a:solidFill>
                  <a:srgbClr val="D92B30"/>
                </a:solidFill>
              </a:rPr>
              <a:t> </a:t>
            </a:r>
            <a:r>
              <a:rPr lang="en-US" dirty="0"/>
              <a:t>− </a:t>
            </a:r>
            <a:r>
              <a:rPr lang="en-US" dirty="0" smtClean="0">
                <a:solidFill>
                  <a:srgbClr val="D92B30"/>
                </a:solidFill>
              </a:rPr>
              <a:t>8</a:t>
            </a:r>
            <a:r>
              <a:rPr lang="en-US" i="1" dirty="0" smtClean="0">
                <a:solidFill>
                  <a:srgbClr val="D92B30"/>
                </a:solidFill>
              </a:rPr>
              <a:t>m</a:t>
            </a:r>
            <a:r>
              <a:rPr lang="en-US" baseline="30000" dirty="0" smtClean="0">
                <a:solidFill>
                  <a:srgbClr val="D92B3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i="1" dirty="0" smtClean="0">
                <a:solidFill>
                  <a:srgbClr val="D92B30"/>
                </a:solidFill>
              </a:rPr>
              <a:t>m</a:t>
            </a:r>
            <a:r>
              <a:rPr lang="en-US" i="1" dirty="0" smtClean="0"/>
              <a:t> </a:t>
            </a:r>
            <a:r>
              <a:rPr lang="en-US" dirty="0"/>
              <a:t>+ </a:t>
            </a:r>
            <a:r>
              <a:rPr lang="en-US" dirty="0" smtClean="0">
                <a:solidFill>
                  <a:srgbClr val="256BB9"/>
                </a:solidFill>
              </a:rPr>
              <a:t>15</a:t>
            </a:r>
            <a:r>
              <a:rPr lang="en-US" i="1" dirty="0" smtClean="0">
                <a:solidFill>
                  <a:srgbClr val="256BB9"/>
                </a:solidFill>
              </a:rPr>
              <a:t>m</a:t>
            </a:r>
            <a:r>
              <a:rPr lang="en-US" baseline="30000" dirty="0" smtClean="0">
                <a:solidFill>
                  <a:srgbClr val="256BB9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/>
              <a:t>− </a:t>
            </a:r>
            <a:r>
              <a:rPr lang="en-US" dirty="0">
                <a:solidFill>
                  <a:srgbClr val="256BB9"/>
                </a:solidFill>
              </a:rPr>
              <a:t>20</a:t>
            </a:r>
            <a:r>
              <a:rPr lang="en-US" i="1" dirty="0">
                <a:solidFill>
                  <a:srgbClr val="256BB9"/>
                </a:solidFill>
              </a:rPr>
              <a:t>m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dirty="0">
                <a:solidFill>
                  <a:srgbClr val="256BB9"/>
                </a:solidFill>
              </a:rPr>
              <a:t>10</a:t>
            </a:r>
          </a:p>
          <a:p>
            <a:pPr marL="688975" indent="-688975">
              <a:spcAft>
                <a:spcPts val="600"/>
              </a:spcAft>
            </a:pPr>
            <a:r>
              <a:rPr lang="en-US" dirty="0" smtClean="0"/>
              <a:t>	= 6</a:t>
            </a:r>
            <a:r>
              <a:rPr lang="en-US" i="1" dirty="0" smtClean="0"/>
              <a:t>m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(−8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15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dirty="0"/>
              <a:t>+ (4</a:t>
            </a:r>
            <a:r>
              <a:rPr lang="en-US" i="1" dirty="0"/>
              <a:t>m </a:t>
            </a:r>
            <a:r>
              <a:rPr lang="en-US" dirty="0"/>
              <a:t>− 20</a:t>
            </a:r>
            <a:r>
              <a:rPr lang="en-US" i="1" dirty="0"/>
              <a:t>m</a:t>
            </a:r>
            <a:r>
              <a:rPr lang="en-US" dirty="0"/>
              <a:t>) + 10</a:t>
            </a:r>
          </a:p>
          <a:p>
            <a:pPr marL="688975" indent="-688975">
              <a:spcAft>
                <a:spcPts val="1800"/>
              </a:spcAft>
            </a:pPr>
            <a:r>
              <a:rPr lang="en-US" dirty="0" smtClean="0"/>
              <a:t>	= 6</a:t>
            </a:r>
            <a:r>
              <a:rPr lang="en-US" i="1" dirty="0" smtClean="0"/>
              <a:t>m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dirty="0" smtClean="0"/>
              <a:t>7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− 16</a:t>
            </a:r>
            <a:r>
              <a:rPr lang="en-US" i="1" dirty="0"/>
              <a:t>m </a:t>
            </a:r>
            <a:r>
              <a:rPr lang="en-US" dirty="0"/>
              <a:t>+ </a:t>
            </a:r>
            <a:r>
              <a:rPr lang="en-US" dirty="0" smtClean="0"/>
              <a:t>10</a:t>
            </a:r>
            <a:endParaRPr lang="en-IN" b="1" dirty="0">
              <a:solidFill>
                <a:schemeClr val="tx1"/>
              </a:solidFill>
            </a:endParaRPr>
          </a:p>
          <a:p>
            <a:endParaRPr lang="en-US" b="1" dirty="0" smtClean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243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2</a:t>
            </a:r>
            <a:endParaRPr lang="en-US" sz="1800" cap="all" dirty="0"/>
          </a:p>
        </p:txBody>
      </p:sp>
      <p:pic>
        <p:nvPicPr>
          <p:cNvPr id="4098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782" y="1495901"/>
            <a:ext cx="2071092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82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381751"/>
            <a:ext cx="8321209" cy="315983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Multiply </a:t>
            </a:r>
            <a:r>
              <a:rPr lang="en-US" sz="1800" b="1" dirty="0" smtClean="0">
                <a:solidFill>
                  <a:srgbClr val="58585A"/>
                </a:solidFill>
              </a:rPr>
              <a:t>Polynomials</a:t>
            </a:r>
          </a:p>
          <a:p>
            <a:pPr>
              <a:spcAft>
                <a:spcPts val="1200"/>
              </a:spcAft>
            </a:pPr>
            <a:r>
              <a:rPr lang="en-US" sz="1600" b="1" dirty="0"/>
              <a:t>How do you multiply the polynomials</a:t>
            </a:r>
            <a:r>
              <a:rPr lang="en-US" sz="1600" b="1" dirty="0" smtClean="0"/>
              <a:t>?</a:t>
            </a:r>
          </a:p>
          <a:p>
            <a:pPr marL="290513" indent="-290513">
              <a:spcAft>
                <a:spcPts val="600"/>
              </a:spcAft>
              <a:buFont typeface="+mj-lt"/>
              <a:buAutoNum type="alphaUcPeriod" startAt="2"/>
            </a:pPr>
            <a:r>
              <a:rPr lang="en-US" b="1" dirty="0" smtClean="0"/>
              <a:t>(</a:t>
            </a:r>
            <a:r>
              <a:rPr lang="en-US" b="1" i="1" dirty="0" err="1"/>
              <a:t>mn</a:t>
            </a:r>
            <a:r>
              <a:rPr lang="en-US" b="1" i="1" dirty="0"/>
              <a:t> </a:t>
            </a:r>
            <a:r>
              <a:rPr lang="en-US" b="1" dirty="0"/>
              <a:t>+ 1)(</a:t>
            </a:r>
            <a:r>
              <a:rPr lang="en-US" b="1" i="1" dirty="0" err="1"/>
              <a:t>mn</a:t>
            </a:r>
            <a:r>
              <a:rPr lang="en-US" b="1" i="1" dirty="0"/>
              <a:t> </a:t>
            </a:r>
            <a:r>
              <a:rPr lang="en-US" b="1" dirty="0"/>
              <a:t>− 2)(</a:t>
            </a:r>
            <a:r>
              <a:rPr lang="en-US" b="1" i="1" dirty="0" err="1"/>
              <a:t>mn</a:t>
            </a:r>
            <a:r>
              <a:rPr lang="en-US" b="1" i="1" dirty="0"/>
              <a:t> </a:t>
            </a:r>
            <a:r>
              <a:rPr lang="en-US" b="1" dirty="0"/>
              <a:t>+ 4)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en-US" dirty="0" smtClean="0"/>
              <a:t>	= </a:t>
            </a:r>
            <a:r>
              <a:rPr lang="en-US" dirty="0"/>
              <a:t>[(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dirty="0" smtClean="0"/>
              <a:t>1)(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− 2)](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+ 4)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pt-BR" dirty="0" smtClean="0"/>
              <a:t>	= (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− 2</a:t>
            </a:r>
            <a:r>
              <a:rPr lang="pt-BR" i="1" dirty="0"/>
              <a:t>mn </a:t>
            </a:r>
            <a:r>
              <a:rPr lang="pt-BR" dirty="0"/>
              <a:t>+ </a:t>
            </a:r>
            <a:r>
              <a:rPr lang="pt-BR" i="1" dirty="0"/>
              <a:t>mn </a:t>
            </a:r>
            <a:r>
              <a:rPr lang="pt-BR" dirty="0"/>
              <a:t>− 2)(</a:t>
            </a:r>
            <a:r>
              <a:rPr lang="pt-BR" i="1" dirty="0"/>
              <a:t>mn </a:t>
            </a:r>
            <a:r>
              <a:rPr lang="pt-BR" dirty="0"/>
              <a:t>+ 4)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pt-BR" dirty="0" smtClean="0"/>
              <a:t>	= (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</a:t>
            </a:r>
            <a:r>
              <a:rPr lang="pt-BR" i="1" dirty="0"/>
              <a:t>mn </a:t>
            </a:r>
            <a:r>
              <a:rPr lang="pt-BR" dirty="0"/>
              <a:t>− 2)(</a:t>
            </a:r>
            <a:r>
              <a:rPr lang="pt-BR" i="1" dirty="0"/>
              <a:t>mn </a:t>
            </a:r>
            <a:r>
              <a:rPr lang="pt-BR" dirty="0"/>
              <a:t>+ 4)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en-US" dirty="0" smtClean="0"/>
              <a:t>	= </a:t>
            </a:r>
            <a:r>
              <a:rPr lang="en-US" i="1" dirty="0" smtClean="0"/>
              <a:t>m</a:t>
            </a:r>
            <a:r>
              <a:rPr lang="en-US" baseline="30000" dirty="0" smtClean="0"/>
              <a:t>2</a:t>
            </a:r>
            <a:r>
              <a:rPr lang="en-US" i="1" dirty="0" smtClean="0"/>
              <a:t>n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+ 4) + (−</a:t>
            </a:r>
            <a:r>
              <a:rPr lang="en-US" i="1" dirty="0" err="1"/>
              <a:t>mn</a:t>
            </a:r>
            <a:r>
              <a:rPr lang="en-US" dirty="0"/>
              <a:t>)(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+ 4) + (−2)(</a:t>
            </a:r>
            <a:r>
              <a:rPr lang="en-US" i="1" dirty="0" err="1"/>
              <a:t>mn</a:t>
            </a:r>
            <a:r>
              <a:rPr lang="en-US" i="1" dirty="0"/>
              <a:t> </a:t>
            </a:r>
            <a:r>
              <a:rPr lang="en-US" dirty="0"/>
              <a:t>+ 4)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pt-BR" dirty="0" smtClean="0"/>
              <a:t>	= </a:t>
            </a:r>
            <a:r>
              <a:rPr lang="pt-BR" i="1" dirty="0" smtClean="0"/>
              <a:t>m</a:t>
            </a:r>
            <a:r>
              <a:rPr lang="pt-BR" baseline="30000" dirty="0" smtClean="0"/>
              <a:t>3</a:t>
            </a:r>
            <a:r>
              <a:rPr lang="pt-BR" i="1" dirty="0" smtClean="0"/>
              <a:t>n</a:t>
            </a:r>
            <a:r>
              <a:rPr lang="pt-BR" baseline="30000" dirty="0" smtClean="0"/>
              <a:t>3</a:t>
            </a:r>
            <a:r>
              <a:rPr lang="pt-BR" dirty="0" smtClean="0"/>
              <a:t> </a:t>
            </a:r>
            <a:r>
              <a:rPr lang="pt-BR" dirty="0"/>
              <a:t>+ </a:t>
            </a:r>
            <a:r>
              <a:rPr lang="pt-BR" dirty="0" smtClean="0"/>
              <a:t>4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− 4</a:t>
            </a:r>
            <a:r>
              <a:rPr lang="pt-BR" i="1" dirty="0"/>
              <a:t>mn </a:t>
            </a:r>
            <a:r>
              <a:rPr lang="pt-BR" dirty="0"/>
              <a:t>− 2</a:t>
            </a:r>
            <a:r>
              <a:rPr lang="pt-BR" i="1" dirty="0"/>
              <a:t>mn </a:t>
            </a:r>
            <a:r>
              <a:rPr lang="pt-BR" dirty="0"/>
              <a:t>− 8</a:t>
            </a:r>
          </a:p>
          <a:p>
            <a:pPr>
              <a:spcAft>
                <a:spcPts val="600"/>
              </a:spcAft>
              <a:tabLst>
                <a:tab pos="569913" algn="l"/>
              </a:tabLst>
            </a:pPr>
            <a:r>
              <a:rPr lang="pt-BR" dirty="0" smtClean="0"/>
              <a:t>	= </a:t>
            </a:r>
            <a:r>
              <a:rPr lang="pt-BR" i="1" dirty="0" smtClean="0"/>
              <a:t>m</a:t>
            </a:r>
            <a:r>
              <a:rPr lang="pt-BR" baseline="30000" dirty="0" smtClean="0"/>
              <a:t>3</a:t>
            </a:r>
            <a:r>
              <a:rPr lang="pt-BR" i="1" dirty="0" smtClean="0"/>
              <a:t>n</a:t>
            </a:r>
            <a:r>
              <a:rPr lang="pt-BR" baseline="30000" dirty="0" smtClean="0"/>
              <a:t>3</a:t>
            </a:r>
            <a:r>
              <a:rPr lang="pt-BR" dirty="0" smtClean="0"/>
              <a:t> </a:t>
            </a:r>
            <a:r>
              <a:rPr lang="pt-BR" dirty="0"/>
              <a:t>+ (</a:t>
            </a:r>
            <a:r>
              <a:rPr lang="pt-BR" dirty="0" smtClean="0"/>
              <a:t>4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) </a:t>
            </a:r>
            <a:r>
              <a:rPr lang="pt-BR" dirty="0"/>
              <a:t>+ (−4</a:t>
            </a:r>
            <a:r>
              <a:rPr lang="pt-BR" i="1" dirty="0"/>
              <a:t>mn </a:t>
            </a:r>
            <a:r>
              <a:rPr lang="pt-BR" dirty="0"/>
              <a:t>− 2</a:t>
            </a:r>
            <a:r>
              <a:rPr lang="pt-BR" i="1" dirty="0"/>
              <a:t>mn</a:t>
            </a:r>
            <a:r>
              <a:rPr lang="pt-BR" dirty="0"/>
              <a:t>) − 8</a:t>
            </a:r>
          </a:p>
          <a:p>
            <a:pPr>
              <a:tabLst>
                <a:tab pos="569913" algn="l"/>
              </a:tabLst>
            </a:pPr>
            <a:r>
              <a:rPr lang="pt-BR" dirty="0" smtClean="0"/>
              <a:t>	= </a:t>
            </a:r>
            <a:r>
              <a:rPr lang="pt-BR" i="1" dirty="0" smtClean="0"/>
              <a:t>m</a:t>
            </a:r>
            <a:r>
              <a:rPr lang="pt-BR" baseline="30000" dirty="0" smtClean="0"/>
              <a:t>3</a:t>
            </a:r>
            <a:r>
              <a:rPr lang="pt-BR" i="1" dirty="0" smtClean="0"/>
              <a:t>n</a:t>
            </a:r>
            <a:r>
              <a:rPr lang="pt-BR" baseline="30000" dirty="0" smtClean="0"/>
              <a:t>3</a:t>
            </a:r>
            <a:r>
              <a:rPr lang="pt-BR" dirty="0" smtClean="0"/>
              <a:t> </a:t>
            </a:r>
            <a:r>
              <a:rPr lang="pt-BR" dirty="0"/>
              <a:t>+ </a:t>
            </a:r>
            <a:r>
              <a:rPr lang="pt-BR" dirty="0" smtClean="0"/>
              <a:t>3</a:t>
            </a:r>
            <a:r>
              <a:rPr lang="pt-BR" i="1" dirty="0" smtClean="0"/>
              <a:t>m</a:t>
            </a:r>
            <a:r>
              <a:rPr lang="pt-BR" baseline="30000" dirty="0" smtClean="0"/>
              <a:t>2</a:t>
            </a:r>
            <a:r>
              <a:rPr lang="pt-BR" i="1" dirty="0" smtClean="0"/>
              <a:t>n</a:t>
            </a:r>
            <a:r>
              <a:rPr lang="pt-BR" baseline="30000" dirty="0" smtClean="0"/>
              <a:t>2</a:t>
            </a:r>
            <a:r>
              <a:rPr lang="pt-BR" dirty="0" smtClean="0"/>
              <a:t> </a:t>
            </a:r>
            <a:r>
              <a:rPr lang="pt-BR" dirty="0"/>
              <a:t>− 6</a:t>
            </a:r>
            <a:r>
              <a:rPr lang="pt-BR" i="1" dirty="0"/>
              <a:t>mn </a:t>
            </a:r>
            <a:r>
              <a:rPr lang="pt-BR" dirty="0"/>
              <a:t>− </a:t>
            </a:r>
            <a:r>
              <a:rPr lang="pt-BR" dirty="0" smtClean="0"/>
              <a:t>8.</a:t>
            </a:r>
            <a:endParaRPr lang="en-US" dirty="0" smtClean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243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2</a:t>
            </a:r>
            <a:endParaRPr lang="en-US" sz="1800" cap="all" dirty="0"/>
          </a:p>
        </p:txBody>
      </p:sp>
      <p:pic>
        <p:nvPicPr>
          <p:cNvPr id="4099" name="Picture 3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37" y="1069243"/>
            <a:ext cx="1843992" cy="7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8F64C450-5A2A-B44B-B667-D61D459945DB}"/>
              </a:ext>
            </a:extLst>
          </p:cNvPr>
          <p:cNvSpPr/>
          <p:nvPr/>
        </p:nvSpPr>
        <p:spPr>
          <a:xfrm>
            <a:off x="445219" y="3750146"/>
            <a:ext cx="4911872" cy="683861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de-DE" sz="1200" b="1" dirty="0">
                <a:solidFill>
                  <a:srgbClr val="137F97"/>
                </a:solidFill>
              </a:rPr>
              <a:t>LEARN TOGETHER</a:t>
            </a:r>
            <a:endParaRPr lang="en-US" sz="1200" b="1" dirty="0" smtClean="0">
              <a:solidFill>
                <a:srgbClr val="137F97"/>
              </a:solidFill>
              <a:latin typeface="Arial"/>
              <a:cs typeface="Arial"/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How do you value </a:t>
            </a:r>
            <a:r>
              <a:rPr lang="en-US" sz="1200" dirty="0" smtClean="0">
                <a:solidFill>
                  <a:schemeClr val="tx1"/>
                </a:solidFill>
              </a:rPr>
              <a:t>other perspectives </a:t>
            </a:r>
            <a:r>
              <a:rPr lang="en-US" sz="1200" dirty="0">
                <a:solidFill>
                  <a:schemeClr val="tx1"/>
                </a:solidFill>
              </a:rPr>
              <a:t>and points of </a:t>
            </a:r>
            <a:r>
              <a:rPr lang="en-US" sz="1200" dirty="0" smtClean="0">
                <a:solidFill>
                  <a:schemeClr val="tx1"/>
                </a:solidFill>
              </a:rPr>
              <a:t>view respectfully</a:t>
            </a:r>
            <a:r>
              <a:rPr lang="en-US" sz="1200" dirty="0">
                <a:solidFill>
                  <a:schemeClr val="tx1"/>
                </a:solidFill>
              </a:rPr>
              <a:t>?</a:t>
            </a:r>
            <a:endParaRPr lang="en-IN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361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430002"/>
            <a:ext cx="8341433" cy="2103140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2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Multiply Polynomials</a:t>
            </a:r>
            <a:endParaRPr lang="en-IN" sz="1800" b="1" dirty="0">
              <a:solidFill>
                <a:srgbClr val="58585A"/>
              </a:solidFill>
            </a:endParaRPr>
          </a:p>
          <a:p>
            <a:pPr marL="1476375" indent="-1466850">
              <a:spcAft>
                <a:spcPts val="600"/>
              </a:spcAft>
              <a:tabLst>
                <a:tab pos="1062038" algn="l"/>
                <a:tab pos="1465263" algn="l"/>
              </a:tabLst>
            </a:pPr>
            <a:r>
              <a:rPr lang="en-IN" sz="1800" b="1" dirty="0">
                <a:solidFill>
                  <a:srgbClr val="D92B31"/>
                </a:solidFill>
              </a:rPr>
              <a:t>Try It!</a:t>
            </a:r>
            <a:endParaRPr lang="en-IN" sz="1800" b="1" dirty="0">
              <a:solidFill>
                <a:schemeClr val="tx1"/>
              </a:solidFill>
            </a:endParaRPr>
          </a:p>
          <a:p>
            <a:pPr marL="360000" indent="-360000">
              <a:spcAft>
                <a:spcPts val="1200"/>
              </a:spcAft>
              <a:buFont typeface="+mj-lt"/>
              <a:buAutoNum type="arabicPeriod" startAt="2"/>
            </a:pPr>
            <a:r>
              <a:rPr lang="en-IN" sz="1600" b="1" dirty="0" smtClean="0"/>
              <a:t>​</a:t>
            </a:r>
            <a:r>
              <a:rPr lang="en-IN" sz="1600" b="1" dirty="0"/>
              <a:t>​</a:t>
            </a:r>
            <a:r>
              <a:rPr lang="en-US" sz="1600" dirty="0" smtClean="0"/>
              <a:t>Multiply </a:t>
            </a:r>
            <a:r>
              <a:rPr lang="en-US" sz="1600" dirty="0"/>
              <a:t>the polynomials.</a:t>
            </a:r>
          </a:p>
          <a:p>
            <a:pPr marL="720000" indent="-360000">
              <a:spcAft>
                <a:spcPts val="1800"/>
              </a:spcAft>
              <a:buAutoNum type="alphaLcPeriod"/>
              <a:tabLst>
                <a:tab pos="1103313" algn="l"/>
              </a:tabLst>
            </a:pPr>
            <a:r>
              <a:rPr lang="en-IN" sz="1600" b="1" dirty="0"/>
              <a:t>​</a:t>
            </a:r>
            <a:r>
              <a:rPr lang="de-DE" sz="1600" dirty="0" smtClean="0"/>
              <a:t> </a:t>
            </a:r>
            <a:r>
              <a:rPr lang="en-IN" sz="1600" b="1" dirty="0"/>
              <a:t>​</a:t>
            </a:r>
          </a:p>
          <a:p>
            <a:pPr marL="720000" indent="-360000">
              <a:spcAft>
                <a:spcPts val="600"/>
              </a:spcAft>
              <a:buFont typeface="Arial"/>
              <a:buAutoNum type="alphaLcPeriod"/>
              <a:tabLst>
                <a:tab pos="1103313" algn="l"/>
              </a:tabLst>
            </a:pPr>
            <a:r>
              <a:rPr lang="en-IN" sz="1600" b="1" dirty="0" smtClean="0"/>
              <a:t>​</a:t>
            </a:r>
            <a:r>
              <a:rPr lang="mr-IN" sz="1600" dirty="0" smtClean="0"/>
              <a:t>(</a:t>
            </a:r>
            <a:r>
              <a:rPr lang="mr-IN" sz="1600" i="1" dirty="0"/>
              <a:t>mn</a:t>
            </a:r>
            <a:r>
              <a:rPr lang="mr-IN" sz="1600" dirty="0"/>
              <a:t> </a:t>
            </a:r>
            <a:r>
              <a:rPr lang="mr-IN" sz="1600" dirty="0" smtClean="0"/>
              <a:t>+ 1)(</a:t>
            </a:r>
            <a:r>
              <a:rPr lang="mr-IN" sz="1600" i="1" dirty="0" smtClean="0"/>
              <a:t>m</a:t>
            </a:r>
            <a:r>
              <a:rPr lang="mr-IN" sz="1600" baseline="30000" dirty="0" smtClean="0"/>
              <a:t>2</a:t>
            </a:r>
            <a:r>
              <a:rPr lang="mr-IN" sz="1600" i="1" dirty="0" smtClean="0"/>
              <a:t>n</a:t>
            </a:r>
            <a:r>
              <a:rPr lang="mr-IN" sz="1600" dirty="0" smtClean="0"/>
              <a:t> </a:t>
            </a:r>
            <a:r>
              <a:rPr lang="mr-IN" sz="1600" dirty="0"/>
              <a:t>− </a:t>
            </a:r>
            <a:r>
              <a:rPr lang="mr-IN" sz="1600" dirty="0" smtClean="0"/>
              <a:t>1</a:t>
            </a:r>
            <a:r>
              <a:rPr lang="mr-IN" sz="1600" dirty="0"/>
              <a:t>)</a:t>
            </a:r>
            <a:r>
              <a:rPr lang="mr-IN" sz="1600" dirty="0" smtClean="0"/>
              <a:t>(</a:t>
            </a:r>
            <a:r>
              <a:rPr lang="mr-IN" sz="1600" i="1" dirty="0" smtClean="0"/>
              <a:t>mn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</a:t>
            </a:r>
            <a:r>
              <a:rPr lang="mr-IN" sz="1600" dirty="0"/>
              <a:t>+ </a:t>
            </a:r>
            <a:r>
              <a:rPr lang="mr-IN" sz="1600" dirty="0" smtClean="0"/>
              <a:t>2</a:t>
            </a:r>
            <a:r>
              <a:rPr lang="mr-IN" sz="1600" dirty="0"/>
              <a:t>)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646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 smtClean="0">
                <a:solidFill>
                  <a:schemeClr val="bg1"/>
                </a:solidFill>
              </a:rPr>
              <a:t>Example 2</a:t>
            </a:r>
            <a:endParaRPr lang="en-US" sz="1800" cap="al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2D026447-33AB-3446-A23C-AFEA10330B4F}"/>
              </a:ext>
            </a:extLst>
          </p:cNvPr>
          <p:cNvCxnSpPr/>
          <p:nvPr/>
        </p:nvCxnSpPr>
        <p:spPr>
          <a:xfrm>
            <a:off x="425301" y="894900"/>
            <a:ext cx="8304028" cy="0"/>
          </a:xfrm>
          <a:prstGeom prst="line">
            <a:avLst/>
          </a:prstGeom>
          <a:ln w="25400">
            <a:solidFill>
              <a:srgbClr val="0078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20" y="1713361"/>
            <a:ext cx="2190111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47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E8F0502-F26D-4842-97A7-E6A7B55ABA0B}"/>
              </a:ext>
            </a:extLst>
          </p:cNvPr>
          <p:cNvSpPr txBox="1"/>
          <p:nvPr/>
        </p:nvSpPr>
        <p:spPr>
          <a:xfrm>
            <a:off x="355758" y="698230"/>
            <a:ext cx="8405065" cy="1113125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Understand Closure</a:t>
            </a:r>
            <a:endParaRPr lang="en-IN" sz="1800" b="1" dirty="0" smtClean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smtClean="0"/>
              <a:t>Is </a:t>
            </a:r>
            <a:r>
              <a:rPr lang="en-US" sz="1600" b="1" dirty="0"/>
              <a:t>the set of polynomials closed under addition and subtraction? </a:t>
            </a:r>
            <a:r>
              <a:rPr lang="en-US" sz="1600" b="1" dirty="0" smtClean="0"/>
              <a:t>Explain.</a:t>
            </a:r>
          </a:p>
          <a:p>
            <a:pPr>
              <a:spcAft>
                <a:spcPts val="1200"/>
              </a:spcAft>
            </a:pPr>
            <a:r>
              <a:rPr lang="en-US" dirty="0"/>
              <a:t>Add two polynomials</a:t>
            </a:r>
            <a:r>
              <a:rPr lang="en-US" dirty="0" smtClean="0"/>
              <a:t>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3341DDE-51A7-BB4A-A5D0-B99BDB557C68}"/>
              </a:ext>
            </a:extLst>
          </p:cNvPr>
          <p:cNvSpPr/>
          <p:nvPr/>
        </p:nvSpPr>
        <p:spPr>
          <a:xfrm>
            <a:off x="452746" y="740791"/>
            <a:ext cx="1489265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3</a:t>
            </a:r>
            <a:endParaRPr lang="en-US" sz="1800" cap="all" dirty="0"/>
          </a:p>
        </p:txBody>
      </p:sp>
      <p:sp>
        <p:nvSpPr>
          <p:cNvPr id="5" name="Rounded Rectangle 4">
            <a:extLst>
              <a:ext uri="{FF2B5EF4-FFF2-40B4-BE49-F238E27FC236}">
                <a16:creationId xmlns="" xmlns:a16="http://schemas.microsoft.com/office/drawing/2014/main" id="{8F64C450-5A2A-B44B-B667-D61D459945DB}"/>
              </a:ext>
            </a:extLst>
          </p:cNvPr>
          <p:cNvSpPr/>
          <p:nvPr/>
        </p:nvSpPr>
        <p:spPr>
          <a:xfrm>
            <a:off x="462228" y="5371187"/>
            <a:ext cx="7057367" cy="620904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s-ES_tradnl" sz="1200" b="1" dirty="0">
                <a:solidFill>
                  <a:srgbClr val="C02B43"/>
                </a:solidFill>
              </a:rPr>
              <a:t>COMMUNICATE PRECISELY</a:t>
            </a:r>
            <a:endParaRPr lang="de-DE" sz="1200" b="1" dirty="0" smtClean="0">
              <a:solidFill>
                <a:srgbClr val="C02B43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The </a:t>
            </a:r>
            <a:r>
              <a:rPr lang="en-US" sz="1200" dirty="0">
                <a:solidFill>
                  <a:schemeClr val="tx1"/>
                </a:solidFill>
              </a:rPr>
              <a:t>set of real numbers is </a:t>
            </a:r>
            <a:r>
              <a:rPr lang="en-US" sz="1200" dirty="0" smtClean="0">
                <a:solidFill>
                  <a:schemeClr val="tx1"/>
                </a:solidFill>
              </a:rPr>
              <a:t>closed under </a:t>
            </a:r>
            <a:r>
              <a:rPr lang="en-US" sz="1200" dirty="0">
                <a:solidFill>
                  <a:schemeClr val="tx1"/>
                </a:solidFill>
              </a:rPr>
              <a:t>addition: if </a:t>
            </a:r>
            <a:r>
              <a:rPr lang="en-US" sz="1200" i="1" dirty="0">
                <a:solidFill>
                  <a:srgbClr val="256BB9"/>
                </a:solidFill>
              </a:rPr>
              <a:t>a</a:t>
            </a:r>
            <a:r>
              <a:rPr lang="en-US" sz="1200" dirty="0">
                <a:solidFill>
                  <a:schemeClr val="tx1"/>
                </a:solidFill>
              </a:rPr>
              <a:t> and </a:t>
            </a:r>
            <a:r>
              <a:rPr lang="en-US" sz="1200" i="1" dirty="0">
                <a:solidFill>
                  <a:srgbClr val="168446"/>
                </a:solidFill>
              </a:rPr>
              <a:t>b</a:t>
            </a:r>
            <a:r>
              <a:rPr lang="en-US" sz="1200" dirty="0">
                <a:solidFill>
                  <a:schemeClr val="tx1"/>
                </a:solidFill>
              </a:rPr>
              <a:t> are </a:t>
            </a:r>
            <a:r>
              <a:rPr lang="en-US" sz="1200" dirty="0" smtClean="0">
                <a:solidFill>
                  <a:schemeClr val="tx1"/>
                </a:solidFill>
              </a:rPr>
              <a:t>real and </a:t>
            </a:r>
            <a:r>
              <a:rPr lang="en-US" sz="1200" i="1" dirty="0">
                <a:solidFill>
                  <a:srgbClr val="256BB9"/>
                </a:solidFill>
              </a:rPr>
              <a:t>a</a:t>
            </a:r>
            <a:r>
              <a:rPr lang="en-US" sz="1200" dirty="0">
                <a:solidFill>
                  <a:schemeClr val="tx1"/>
                </a:solidFill>
              </a:rPr>
              <a:t> + </a:t>
            </a:r>
            <a:r>
              <a:rPr lang="en-US" sz="1200" i="1" dirty="0">
                <a:solidFill>
                  <a:srgbClr val="168446"/>
                </a:solidFill>
              </a:rPr>
              <a:t>b</a:t>
            </a:r>
            <a:r>
              <a:rPr lang="en-US" sz="1200" dirty="0">
                <a:solidFill>
                  <a:schemeClr val="tx1"/>
                </a:solidFill>
              </a:rPr>
              <a:t> = </a:t>
            </a:r>
            <a:r>
              <a:rPr lang="en-US" sz="1200" i="1" dirty="0" smtClean="0">
                <a:solidFill>
                  <a:srgbClr val="D92B30"/>
                </a:solidFill>
              </a:rPr>
              <a:t>c</a:t>
            </a:r>
            <a:r>
              <a:rPr lang="en-US" sz="1200" dirty="0" smtClean="0">
                <a:solidFill>
                  <a:schemeClr val="tx1"/>
                </a:solidFill>
              </a:rPr>
              <a:t>, </a:t>
            </a:r>
            <a:r>
              <a:rPr lang="en-US" sz="1200" dirty="0">
                <a:solidFill>
                  <a:schemeClr val="tx1"/>
                </a:solidFill>
              </a:rPr>
              <a:t>then </a:t>
            </a:r>
            <a:r>
              <a:rPr lang="en-US" sz="1200" i="1" dirty="0">
                <a:solidFill>
                  <a:srgbClr val="D92B30"/>
                </a:solidFill>
              </a:rPr>
              <a:t>c</a:t>
            </a:r>
            <a:r>
              <a:rPr lang="en-US" sz="1200" dirty="0">
                <a:solidFill>
                  <a:schemeClr val="tx1"/>
                </a:solidFill>
              </a:rPr>
              <a:t> is </a:t>
            </a:r>
            <a:r>
              <a:rPr lang="en-US" sz="1200" dirty="0" smtClean="0">
                <a:solidFill>
                  <a:schemeClr val="tx1"/>
                </a:solidFill>
              </a:rPr>
              <a:t>also real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IN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>
                <a:solidFill>
                  <a:srgbClr val="137F97"/>
                </a:solidFill>
              </a:rPr>
              <a:t>CONCEPTUAL UNDERSTANDING</a:t>
            </a:r>
            <a:endParaRPr lang="en-IN" sz="1800" dirty="0">
              <a:solidFill>
                <a:srgbClr val="137F97"/>
              </a:solidFill>
            </a:endParaRPr>
          </a:p>
        </p:txBody>
      </p:sp>
      <p:pic>
        <p:nvPicPr>
          <p:cNvPr id="6146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88" y="1833248"/>
            <a:ext cx="7436776" cy="171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6682" y="3788289"/>
            <a:ext cx="796724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Since </a:t>
            </a:r>
            <a:r>
              <a:rPr lang="en-US" dirty="0"/>
              <a:t>the coefficients are real and the exponents are unchanged, the sum </a:t>
            </a:r>
            <a:r>
              <a:rPr lang="en-US" dirty="0" smtClean="0"/>
              <a:t>is still </a:t>
            </a:r>
            <a:r>
              <a:rPr lang="en-US" dirty="0"/>
              <a:t>a polynomial.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 </a:t>
            </a:r>
            <a:r>
              <a:rPr lang="en-US" dirty="0"/>
              <a:t>the set of polynomials is closed under addition.</a:t>
            </a:r>
          </a:p>
          <a:p>
            <a:endParaRPr lang="en-US" dirty="0"/>
          </a:p>
          <a:p>
            <a:r>
              <a:rPr lang="en-US" dirty="0"/>
              <a:t>Likewise for subtraction, each coefficient is in the form 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i</a:t>
            </a:r>
            <a:r>
              <a:rPr lang="en-US" dirty="0" smtClean="0"/>
              <a:t>− </a:t>
            </a:r>
            <a:r>
              <a:rPr lang="en-US" i="1" dirty="0" smtClean="0"/>
              <a:t>b</a:t>
            </a:r>
            <a:r>
              <a:rPr lang="en-US" i="1" baseline="-25000" dirty="0" smtClean="0"/>
              <a:t>i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the exponents </a:t>
            </a:r>
            <a:r>
              <a:rPr lang="en-US" dirty="0"/>
              <a:t>are unchanged,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 </a:t>
            </a:r>
            <a:r>
              <a:rPr lang="en-US" dirty="0"/>
              <a:t>the set of polynomials is closed </a:t>
            </a:r>
            <a:r>
              <a:rPr lang="en-US" dirty="0" smtClean="0"/>
              <a:t>under subtraction.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73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430002"/>
            <a:ext cx="8341433" cy="1225977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2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Understand Closure</a:t>
            </a:r>
            <a:endParaRPr lang="en-IN" sz="1800" b="1" dirty="0">
              <a:solidFill>
                <a:srgbClr val="58585A"/>
              </a:solidFill>
            </a:endParaRPr>
          </a:p>
          <a:p>
            <a:pPr marL="1476375" indent="-1466850">
              <a:spcAft>
                <a:spcPts val="600"/>
              </a:spcAft>
              <a:tabLst>
                <a:tab pos="1062038" algn="l"/>
                <a:tab pos="1465263" algn="l"/>
              </a:tabLst>
            </a:pPr>
            <a:r>
              <a:rPr lang="en-IN" sz="1800" b="1" dirty="0">
                <a:solidFill>
                  <a:srgbClr val="D92B31"/>
                </a:solidFill>
              </a:rPr>
              <a:t>Try It!</a:t>
            </a:r>
            <a:endParaRPr lang="en-IN" sz="18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IN" sz="1600" b="1" dirty="0" smtClean="0"/>
              <a:t>​</a:t>
            </a:r>
            <a:r>
              <a:rPr lang="en-US" sz="1600" dirty="0" smtClean="0"/>
              <a:t>Show </a:t>
            </a:r>
            <a:r>
              <a:rPr lang="en-US" sz="1600" dirty="0"/>
              <a:t>that the set of monomials is closed under multiplication.</a:t>
            </a:r>
            <a:endParaRPr lang="en-US" sz="1600" i="1" dirty="0" smtClean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646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3</a:t>
            </a:r>
            <a:endParaRPr lang="en-US" sz="1800" cap="al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2D026447-33AB-3446-A23C-AFEA10330B4F}"/>
              </a:ext>
            </a:extLst>
          </p:cNvPr>
          <p:cNvCxnSpPr/>
          <p:nvPr/>
        </p:nvCxnSpPr>
        <p:spPr>
          <a:xfrm>
            <a:off x="425301" y="894900"/>
            <a:ext cx="8304028" cy="0"/>
          </a:xfrm>
          <a:prstGeom prst="line">
            <a:avLst/>
          </a:prstGeom>
          <a:ln w="25400">
            <a:solidFill>
              <a:srgbClr val="0078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368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8F0502-F26D-4842-97A7-E6A7B55ABA0B}"/>
              </a:ext>
            </a:extLst>
          </p:cNvPr>
          <p:cNvSpPr txBox="1"/>
          <p:nvPr/>
        </p:nvSpPr>
        <p:spPr>
          <a:xfrm>
            <a:off x="355758" y="698230"/>
            <a:ext cx="8405065" cy="4660250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Write a Polynomial Function</a:t>
            </a:r>
            <a:endParaRPr lang="en-IN" sz="1800" b="1" dirty="0" smtClean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b="1" dirty="0" err="1"/>
              <a:t>Hachi</a:t>
            </a:r>
            <a:r>
              <a:rPr lang="en-US" sz="1600" b="1" dirty="0"/>
              <a:t> makes Seminole </a:t>
            </a:r>
            <a:r>
              <a:rPr lang="en-US" sz="1600" b="1" dirty="0" smtClean="0"/>
              <a:t>Indian dolls </a:t>
            </a:r>
            <a:r>
              <a:rPr lang="en-US" sz="1600" b="1" dirty="0"/>
              <a:t>to sell at the local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street</a:t>
            </a:r>
            <a:r>
              <a:rPr lang="en-US" sz="1600" b="1" dirty="0"/>
              <a:t> </a:t>
            </a:r>
            <a:r>
              <a:rPr lang="nb-NO" sz="1600" b="1" dirty="0" err="1" smtClean="0"/>
              <a:t>market</a:t>
            </a:r>
            <a:r>
              <a:rPr lang="nb-NO" sz="1600" b="1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sz="1600" b="1" dirty="0" smtClean="0"/>
              <a:t>As </a:t>
            </a:r>
            <a:r>
              <a:rPr lang="en-US" sz="1600" b="1" dirty="0" err="1"/>
              <a:t>Hachi</a:t>
            </a:r>
            <a:r>
              <a:rPr lang="en-US" sz="1600" b="1" dirty="0"/>
              <a:t> produces a greater number of dolls, she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can lower the </a:t>
            </a:r>
            <a:r>
              <a:rPr lang="en-US" sz="1600" b="1" dirty="0"/>
              <a:t>cost per unit. The cost </a:t>
            </a:r>
            <a:r>
              <a:rPr lang="en-US" sz="1600" b="1" i="1" dirty="0"/>
              <a:t>c </a:t>
            </a:r>
            <a:r>
              <a:rPr lang="en-US" sz="1600" b="1" dirty="0"/>
              <a:t>of making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i="1" dirty="0" smtClean="0"/>
              <a:t>x </a:t>
            </a:r>
            <a:r>
              <a:rPr lang="en-US" sz="1600" b="1" dirty="0"/>
              <a:t>dolls can be represented with the function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i="1" dirty="0" smtClean="0"/>
              <a:t>c</a:t>
            </a:r>
            <a:r>
              <a:rPr lang="en-US" sz="1600" b="1" dirty="0" smtClean="0"/>
              <a:t>(</a:t>
            </a:r>
            <a:r>
              <a:rPr lang="en-US" sz="1600" b="1" i="1" dirty="0" smtClean="0"/>
              <a:t>x</a:t>
            </a:r>
            <a:r>
              <a:rPr lang="en-US" sz="1600" b="1" dirty="0"/>
              <a:t>) = 12</a:t>
            </a:r>
            <a:r>
              <a:rPr lang="en-US" sz="1600" b="1" i="1" dirty="0"/>
              <a:t>x </a:t>
            </a:r>
            <a:r>
              <a:rPr lang="en-US" sz="1600" b="1" dirty="0"/>
              <a:t>+ 64 . The function </a:t>
            </a:r>
            <a:r>
              <a:rPr lang="en-US" sz="1600" b="1" i="1" dirty="0"/>
              <a:t>v</a:t>
            </a:r>
            <a:r>
              <a:rPr lang="en-US" sz="1600" b="1" dirty="0"/>
              <a:t>(</a:t>
            </a:r>
            <a:r>
              <a:rPr lang="en-US" sz="1600" b="1" i="1" dirty="0"/>
              <a:t>x</a:t>
            </a:r>
            <a:r>
              <a:rPr lang="en-US" sz="1600" b="1" dirty="0"/>
              <a:t>) relates the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price </a:t>
            </a:r>
            <a:r>
              <a:rPr lang="en-US" sz="1600" b="1" i="1" dirty="0"/>
              <a:t>v </a:t>
            </a:r>
            <a:r>
              <a:rPr lang="en-US" sz="1600" b="1" dirty="0"/>
              <a:t>to the number of dolls produced, </a:t>
            </a:r>
            <a:r>
              <a:rPr lang="en-US" sz="1600" b="1" i="1" dirty="0"/>
              <a:t>x</a:t>
            </a:r>
            <a:r>
              <a:rPr lang="en-US" sz="1600" b="1" dirty="0"/>
              <a:t>.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b="1" dirty="0" smtClean="0"/>
              <a:t>How </a:t>
            </a:r>
            <a:r>
              <a:rPr lang="en-US" sz="1600" b="1" dirty="0"/>
              <a:t>many Seminole Indian dolls should </a:t>
            </a:r>
            <a:r>
              <a:rPr lang="en-US" sz="1600" b="1" dirty="0" err="1"/>
              <a:t>Hachi</a:t>
            </a:r>
            <a:r>
              <a:rPr lang="en-US" sz="1600" b="1" dirty="0"/>
              <a:t> sell each week to </a:t>
            </a:r>
            <a:r>
              <a:rPr lang="en-US" sz="1600" b="1" dirty="0" smtClean="0"/>
              <a:t>maximize her </a:t>
            </a:r>
            <a:br>
              <a:rPr lang="en-US" sz="1600" b="1" dirty="0" smtClean="0"/>
            </a:br>
            <a:r>
              <a:rPr lang="en-US" sz="1600" b="1" dirty="0" smtClean="0"/>
              <a:t>profit </a:t>
            </a:r>
            <a:r>
              <a:rPr lang="en-US" sz="1600" b="1" i="1" dirty="0"/>
              <a:t>P</a:t>
            </a:r>
            <a:r>
              <a:rPr lang="en-US" sz="1600" b="1" dirty="0"/>
              <a:t>? Recall that profit equals revenue minus cost.</a:t>
            </a:r>
            <a:endParaRPr lang="en-US" sz="1600" b="1" dirty="0" smtClean="0"/>
          </a:p>
          <a:p>
            <a:pPr>
              <a:spcAft>
                <a:spcPts val="600"/>
              </a:spcAft>
            </a:pPr>
            <a:r>
              <a:rPr lang="en-US" b="1" dirty="0" smtClean="0">
                <a:solidFill>
                  <a:srgbClr val="58585A"/>
                </a:solidFill>
              </a:rPr>
              <a:t>Formulate</a:t>
            </a:r>
            <a:endParaRPr lang="en-US" b="1" dirty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 smtClean="0"/>
              <a:t>Write </a:t>
            </a:r>
            <a:r>
              <a:rPr lang="en-US" dirty="0"/>
              <a:t>a function for revenue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smtClean="0"/>
              <a:t>by </a:t>
            </a:r>
            <a:r>
              <a:rPr lang="en-US" dirty="0"/>
              <a:t>multiplying the price </a:t>
            </a:r>
            <a:r>
              <a:rPr lang="en-US" i="1" dirty="0" smtClean="0"/>
              <a:t>v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 </a:t>
            </a:r>
            <a:r>
              <a:rPr lang="en-US" dirty="0"/>
              <a:t>= </a:t>
            </a:r>
            <a:r>
              <a:rPr lang="en-US" dirty="0" smtClean="0"/>
              <a:t>49 </a:t>
            </a:r>
            <a:r>
              <a:rPr lang="en-US" dirty="0"/>
              <a:t>− </a:t>
            </a:r>
            <a:r>
              <a:rPr lang="en-US" dirty="0" smtClean="0"/>
              <a:t>2</a:t>
            </a:r>
            <a:r>
              <a:rPr lang="en-US" i="1" dirty="0" smtClean="0"/>
              <a:t>x</a:t>
            </a:r>
            <a:r>
              <a:rPr lang="en-US" dirty="0" smtClean="0"/>
              <a:t> of each item </a:t>
            </a:r>
            <a:r>
              <a:rPr lang="en-US" dirty="0"/>
              <a:t>by the number sold </a:t>
            </a:r>
            <a:r>
              <a:rPr lang="en-US" i="1" dirty="0" smtClean="0"/>
              <a:t>x</a:t>
            </a:r>
            <a:r>
              <a:rPr lang="en-US" dirty="0" smtClean="0"/>
              <a:t>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mr-IN" dirty="0" smtClean="0"/>
              <a:t>	</a:t>
            </a:r>
            <a:r>
              <a:rPr lang="mr-IN" i="1" dirty="0" smtClean="0"/>
              <a:t>R</a:t>
            </a:r>
            <a:r>
              <a:rPr lang="mr-IN" dirty="0" smtClean="0"/>
              <a:t>(</a:t>
            </a:r>
            <a:r>
              <a:rPr lang="mr-IN" i="1" dirty="0" smtClean="0"/>
              <a:t>x</a:t>
            </a:r>
            <a:r>
              <a:rPr lang="mr-IN" dirty="0" smtClean="0"/>
              <a:t>) = (</a:t>
            </a:r>
            <a:r>
              <a:rPr lang="mr-IN" dirty="0"/>
              <a:t>49 − </a:t>
            </a:r>
            <a:r>
              <a:rPr lang="mr-IN" dirty="0" smtClean="0"/>
              <a:t>2</a:t>
            </a:r>
            <a:r>
              <a:rPr lang="mr-IN" i="1" dirty="0" smtClean="0"/>
              <a:t>x</a:t>
            </a:r>
            <a:r>
              <a:rPr lang="mr-IN" dirty="0" smtClean="0"/>
              <a:t>)</a:t>
            </a:r>
            <a:r>
              <a:rPr lang="mr-IN" i="1" dirty="0"/>
              <a:t>x</a:t>
            </a:r>
          </a:p>
          <a:p>
            <a:pPr>
              <a:spcAft>
                <a:spcPts val="600"/>
              </a:spcAft>
            </a:pPr>
            <a:r>
              <a:rPr lang="en-US" dirty="0"/>
              <a:t> Then write the function for profit </a:t>
            </a:r>
            <a:r>
              <a:rPr lang="en-US" i="1" dirty="0" smtClean="0"/>
              <a:t>P</a:t>
            </a:r>
            <a:r>
              <a:rPr lang="en-US" dirty="0" smtClean="0"/>
              <a:t>.</a:t>
            </a:r>
          </a:p>
          <a:p>
            <a:pPr>
              <a:spcAft>
                <a:spcPts val="300"/>
              </a:spcAft>
            </a:pPr>
            <a:r>
              <a:rPr lang="en-US" i="1" dirty="0" smtClean="0"/>
              <a:t>	P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/>
              <a:t>) = </a:t>
            </a:r>
            <a:r>
              <a:rPr lang="en-US" i="1" dirty="0"/>
              <a:t>R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−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>
              <a:tabLst>
                <a:tab pos="1298448" algn="l"/>
                <a:tab pos="1371600" algn="l"/>
              </a:tabLst>
            </a:pPr>
            <a:r>
              <a:rPr lang="en-US" dirty="0"/>
              <a:t>	</a:t>
            </a:r>
            <a:r>
              <a:rPr lang="en-US" dirty="0" smtClean="0"/>
              <a:t>= </a:t>
            </a:r>
            <a:r>
              <a:rPr lang="en-US" dirty="0">
                <a:solidFill>
                  <a:srgbClr val="D92B30"/>
                </a:solidFill>
              </a:rPr>
              <a:t>(49 − 2</a:t>
            </a:r>
            <a:r>
              <a:rPr lang="en-US" i="1" dirty="0">
                <a:solidFill>
                  <a:srgbClr val="D92B30"/>
                </a:solidFill>
              </a:rPr>
              <a:t>x</a:t>
            </a:r>
            <a:r>
              <a:rPr lang="en-US" dirty="0">
                <a:solidFill>
                  <a:srgbClr val="D92B30"/>
                </a:solidFill>
              </a:rPr>
              <a:t>)</a:t>
            </a:r>
            <a:r>
              <a:rPr lang="en-US" i="1" dirty="0">
                <a:solidFill>
                  <a:srgbClr val="D92B30"/>
                </a:solidFill>
              </a:rPr>
              <a:t>x</a:t>
            </a:r>
            <a:r>
              <a:rPr lang="en-US" i="1" dirty="0"/>
              <a:t> </a:t>
            </a:r>
            <a:r>
              <a:rPr lang="en-US" dirty="0"/>
              <a:t>− (12</a:t>
            </a:r>
            <a:r>
              <a:rPr lang="en-US" i="1" dirty="0"/>
              <a:t>x </a:t>
            </a:r>
            <a:r>
              <a:rPr lang="en-US" dirty="0"/>
              <a:t>+ 64)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3341DDE-51A7-BB4A-A5D0-B99BDB557C68}"/>
              </a:ext>
            </a:extLst>
          </p:cNvPr>
          <p:cNvSpPr/>
          <p:nvPr/>
        </p:nvSpPr>
        <p:spPr>
          <a:xfrm>
            <a:off x="452746" y="740791"/>
            <a:ext cx="1489265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4</a:t>
            </a:r>
            <a:endParaRPr lang="en-US" sz="1800" cap="al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pic>
        <p:nvPicPr>
          <p:cNvPr id="9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03" y="963953"/>
            <a:ext cx="2987303" cy="182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77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8F0502-F26D-4842-97A7-E6A7B55ABA0B}"/>
              </a:ext>
            </a:extLst>
          </p:cNvPr>
          <p:cNvSpPr txBox="1"/>
          <p:nvPr/>
        </p:nvSpPr>
        <p:spPr>
          <a:xfrm>
            <a:off x="355758" y="698230"/>
            <a:ext cx="8405065" cy="495263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Write a Polynomial Function</a:t>
            </a:r>
            <a:endParaRPr lang="en-IN" sz="1800" b="1" dirty="0" smtClean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b="1" dirty="0" err="1"/>
              <a:t>Hachi</a:t>
            </a:r>
            <a:r>
              <a:rPr lang="en-US" sz="1600" b="1" dirty="0"/>
              <a:t> makes Seminole </a:t>
            </a:r>
            <a:r>
              <a:rPr lang="en-US" sz="1600" b="1" dirty="0" smtClean="0"/>
              <a:t>Indian dolls </a:t>
            </a:r>
            <a:r>
              <a:rPr lang="en-US" sz="1600" b="1" dirty="0"/>
              <a:t>to sell at the local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street</a:t>
            </a:r>
            <a:r>
              <a:rPr lang="en-US" sz="1600" b="1" dirty="0"/>
              <a:t> </a:t>
            </a:r>
            <a:r>
              <a:rPr lang="nb-NO" sz="1600" b="1" dirty="0" err="1" smtClean="0"/>
              <a:t>market</a:t>
            </a:r>
            <a:r>
              <a:rPr lang="nb-NO" sz="1600" b="1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sz="1600" b="1" dirty="0" smtClean="0"/>
              <a:t>As </a:t>
            </a:r>
            <a:r>
              <a:rPr lang="en-US" sz="1600" b="1" dirty="0" err="1"/>
              <a:t>Hachi</a:t>
            </a:r>
            <a:r>
              <a:rPr lang="en-US" sz="1600" b="1" dirty="0"/>
              <a:t> produces a greater number of dolls, she </a:t>
            </a:r>
            <a:br>
              <a:rPr lang="en-US" sz="1600" b="1" dirty="0"/>
            </a:br>
            <a:r>
              <a:rPr lang="en-US" sz="1600" b="1" dirty="0"/>
              <a:t>can lower the cost per unit. The cost </a:t>
            </a:r>
            <a:r>
              <a:rPr lang="en-US" sz="1600" b="1" i="1" dirty="0"/>
              <a:t>c </a:t>
            </a:r>
            <a:r>
              <a:rPr lang="en-US" sz="1600" b="1" dirty="0"/>
              <a:t>of making </a:t>
            </a:r>
            <a:br>
              <a:rPr lang="en-US" sz="1600" b="1" dirty="0"/>
            </a:br>
            <a:r>
              <a:rPr lang="en-US" sz="1600" b="1" i="1" dirty="0"/>
              <a:t>x </a:t>
            </a:r>
            <a:r>
              <a:rPr lang="en-US" sz="1600" b="1" dirty="0"/>
              <a:t>dolls can be represented with the function </a:t>
            </a:r>
            <a:br>
              <a:rPr lang="en-US" sz="1600" b="1" dirty="0"/>
            </a:br>
            <a:r>
              <a:rPr lang="en-US" sz="1600" b="1" i="1" dirty="0"/>
              <a:t>c</a:t>
            </a:r>
            <a:r>
              <a:rPr lang="en-US" sz="1600" b="1" dirty="0"/>
              <a:t>(</a:t>
            </a:r>
            <a:r>
              <a:rPr lang="en-US" sz="1600" b="1" i="1" dirty="0"/>
              <a:t>x</a:t>
            </a:r>
            <a:r>
              <a:rPr lang="en-US" sz="1600" b="1" dirty="0"/>
              <a:t>) = 12</a:t>
            </a:r>
            <a:r>
              <a:rPr lang="en-US" sz="1600" b="1" i="1" dirty="0"/>
              <a:t>x </a:t>
            </a:r>
            <a:r>
              <a:rPr lang="en-US" sz="1600" b="1" dirty="0"/>
              <a:t>+ 64 . The function </a:t>
            </a:r>
            <a:r>
              <a:rPr lang="en-US" sz="1600" b="1" i="1" dirty="0"/>
              <a:t>v</a:t>
            </a:r>
            <a:r>
              <a:rPr lang="en-US" sz="1600" b="1" dirty="0"/>
              <a:t>(</a:t>
            </a:r>
            <a:r>
              <a:rPr lang="en-US" sz="1600" b="1" i="1" dirty="0"/>
              <a:t>x</a:t>
            </a:r>
            <a:r>
              <a:rPr lang="en-US" sz="1600" b="1" dirty="0"/>
              <a:t>) relates the </a:t>
            </a:r>
            <a:br>
              <a:rPr lang="en-US" sz="1600" b="1" dirty="0"/>
            </a:br>
            <a:r>
              <a:rPr lang="en-US" sz="1600" b="1" dirty="0"/>
              <a:t>price </a:t>
            </a:r>
            <a:r>
              <a:rPr lang="en-US" sz="1600" b="1" i="1" dirty="0"/>
              <a:t>v </a:t>
            </a:r>
            <a:r>
              <a:rPr lang="en-US" sz="1600" b="1" dirty="0"/>
              <a:t>to the number of dolls produced, </a:t>
            </a:r>
            <a:r>
              <a:rPr lang="en-US" sz="1600" b="1" i="1" dirty="0"/>
              <a:t>x</a:t>
            </a:r>
            <a:r>
              <a:rPr lang="en-US" sz="1600" b="1" dirty="0"/>
              <a:t>.</a:t>
            </a:r>
            <a:endParaRPr lang="mr-IN" sz="1600" b="1" dirty="0" smtClean="0"/>
          </a:p>
          <a:p>
            <a:pPr>
              <a:spcAft>
                <a:spcPts val="1200"/>
              </a:spcAft>
            </a:pPr>
            <a:r>
              <a:rPr lang="en-US" sz="1600" b="1" dirty="0" smtClean="0"/>
              <a:t>How </a:t>
            </a:r>
            <a:r>
              <a:rPr lang="en-US" sz="1600" b="1" dirty="0"/>
              <a:t>many Seminole Indian dolls should </a:t>
            </a:r>
            <a:r>
              <a:rPr lang="en-US" sz="1600" b="1" dirty="0" err="1"/>
              <a:t>Hachi</a:t>
            </a:r>
            <a:r>
              <a:rPr lang="en-US" sz="1600" b="1" dirty="0"/>
              <a:t> sell each week to </a:t>
            </a:r>
            <a:r>
              <a:rPr lang="en-US" sz="1600" b="1" dirty="0" smtClean="0"/>
              <a:t>maximize her </a:t>
            </a:r>
            <a:br>
              <a:rPr lang="en-US" sz="1600" b="1" dirty="0" smtClean="0"/>
            </a:br>
            <a:r>
              <a:rPr lang="en-US" sz="1600" b="1" dirty="0" smtClean="0"/>
              <a:t>profit </a:t>
            </a:r>
            <a:r>
              <a:rPr lang="en-US" sz="1600" b="1" i="1" dirty="0"/>
              <a:t>P</a:t>
            </a:r>
            <a:r>
              <a:rPr lang="en-US" sz="1600" b="1" dirty="0"/>
              <a:t>? Recall that profit equals revenue minus cost.</a:t>
            </a:r>
            <a:endParaRPr lang="en-US" sz="1600" b="1" dirty="0" smtClean="0"/>
          </a:p>
          <a:p>
            <a:pPr>
              <a:spcAft>
                <a:spcPts val="600"/>
              </a:spcAft>
            </a:pPr>
            <a:r>
              <a:rPr lang="en-US" b="1" dirty="0" smtClean="0">
                <a:solidFill>
                  <a:srgbClr val="58585A"/>
                </a:solidFill>
              </a:rPr>
              <a:t>Compute</a:t>
            </a:r>
            <a:endParaRPr lang="en-US" b="1" dirty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/>
              <a:t>Simplify the function</a:t>
            </a:r>
            <a:r>
              <a:rPr lang="en-US" dirty="0" smtClean="0"/>
              <a:t>.</a:t>
            </a:r>
          </a:p>
          <a:p>
            <a:pPr>
              <a:spcAft>
                <a:spcPts val="300"/>
              </a:spcAft>
              <a:tabLst>
                <a:tab pos="382588" algn="l"/>
                <a:tab pos="795338" algn="l"/>
              </a:tabLst>
            </a:pPr>
            <a:r>
              <a:rPr lang="en-US" i="1" dirty="0" smtClean="0"/>
              <a:t>	P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	= </a:t>
            </a:r>
            <a:r>
              <a:rPr lang="en-US" dirty="0"/>
              <a:t>(49 − 2</a:t>
            </a:r>
            <a:r>
              <a:rPr lang="en-US" i="1" dirty="0"/>
              <a:t>x</a:t>
            </a:r>
            <a:r>
              <a:rPr lang="en-US" dirty="0"/>
              <a:t>)</a:t>
            </a:r>
            <a:r>
              <a:rPr lang="en-US" i="1" dirty="0"/>
              <a:t>x </a:t>
            </a:r>
            <a:r>
              <a:rPr lang="en-US" dirty="0"/>
              <a:t>− (12</a:t>
            </a:r>
            <a:r>
              <a:rPr lang="en-US" i="1" dirty="0"/>
              <a:t>x </a:t>
            </a:r>
            <a:r>
              <a:rPr lang="en-US" dirty="0"/>
              <a:t>+ 64)</a:t>
            </a:r>
          </a:p>
          <a:p>
            <a:pPr lvl="1">
              <a:spcAft>
                <a:spcPts val="300"/>
              </a:spcAft>
              <a:tabLst>
                <a:tab pos="382588" algn="l"/>
                <a:tab pos="795338" algn="l"/>
              </a:tabLst>
            </a:pPr>
            <a:r>
              <a:rPr lang="en-US" dirty="0" smtClean="0"/>
              <a:t>		= </a:t>
            </a:r>
            <a:r>
              <a:rPr lang="en-US" dirty="0"/>
              <a:t>(49</a:t>
            </a:r>
            <a:r>
              <a:rPr lang="en-US" i="1" dirty="0"/>
              <a:t>x </a:t>
            </a:r>
            <a:r>
              <a:rPr lang="en-US" dirty="0"/>
              <a:t>− </a:t>
            </a:r>
            <a:r>
              <a:rPr lang="en-US" dirty="0" smtClean="0"/>
              <a:t>2</a:t>
            </a:r>
            <a:r>
              <a:rPr lang="en-US" i="1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dirty="0"/>
              <a:t>− (12</a:t>
            </a:r>
            <a:r>
              <a:rPr lang="en-US" i="1" dirty="0"/>
              <a:t>x </a:t>
            </a:r>
            <a:r>
              <a:rPr lang="en-US" dirty="0"/>
              <a:t>+ 64)</a:t>
            </a:r>
          </a:p>
          <a:p>
            <a:pPr>
              <a:spcAft>
                <a:spcPts val="300"/>
              </a:spcAft>
              <a:tabLst>
                <a:tab pos="382588" algn="l"/>
                <a:tab pos="795338" algn="l"/>
              </a:tabLst>
            </a:pPr>
            <a:r>
              <a:rPr lang="en-US" dirty="0" smtClean="0"/>
              <a:t>		= </a:t>
            </a:r>
            <a:r>
              <a:rPr lang="en-US" dirty="0"/>
              <a:t>49</a:t>
            </a:r>
            <a:r>
              <a:rPr lang="en-US" i="1" dirty="0"/>
              <a:t>x</a:t>
            </a:r>
            <a:r>
              <a:rPr lang="en-US" dirty="0"/>
              <a:t> − </a:t>
            </a:r>
            <a:r>
              <a:rPr lang="en-US" dirty="0" smtClean="0"/>
              <a:t>2</a:t>
            </a:r>
            <a:r>
              <a:rPr lang="en-US" i="1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− 12</a:t>
            </a:r>
            <a:r>
              <a:rPr lang="en-US" i="1" dirty="0"/>
              <a:t>x </a:t>
            </a:r>
            <a:r>
              <a:rPr lang="en-US" dirty="0"/>
              <a:t>− 64</a:t>
            </a:r>
          </a:p>
          <a:p>
            <a:pPr>
              <a:spcAft>
                <a:spcPts val="1200"/>
              </a:spcAft>
              <a:tabLst>
                <a:tab pos="382588" algn="l"/>
                <a:tab pos="795338" algn="l"/>
              </a:tabLst>
            </a:pPr>
            <a:r>
              <a:rPr lang="en-US" dirty="0" smtClean="0"/>
              <a:t>		= </a:t>
            </a:r>
            <a:r>
              <a:rPr lang="en-US" dirty="0"/>
              <a:t>−</a:t>
            </a:r>
            <a:r>
              <a:rPr lang="en-US" dirty="0" smtClean="0"/>
              <a:t>2</a:t>
            </a:r>
            <a:r>
              <a:rPr lang="en-US" i="1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+ 37</a:t>
            </a:r>
            <a:r>
              <a:rPr lang="en-US" i="1" dirty="0"/>
              <a:t>x </a:t>
            </a:r>
            <a:r>
              <a:rPr lang="en-US" dirty="0"/>
              <a:t>− 64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err="1"/>
              <a:t>Hachi's</a:t>
            </a:r>
            <a:r>
              <a:rPr lang="en-US" dirty="0"/>
              <a:t> profit function </a:t>
            </a:r>
            <a:r>
              <a:rPr lang="en-US" dirty="0" smtClean="0"/>
              <a:t>is </a:t>
            </a:r>
            <a:r>
              <a:rPr lang="mr-IN" i="1" dirty="0" smtClean="0"/>
              <a:t>P</a:t>
            </a:r>
            <a:r>
              <a:rPr lang="mr-IN" dirty="0"/>
              <a:t>(</a:t>
            </a:r>
            <a:r>
              <a:rPr lang="mr-IN" i="1" dirty="0"/>
              <a:t>x</a:t>
            </a:r>
            <a:r>
              <a:rPr lang="mr-IN" dirty="0"/>
              <a:t>) = −</a:t>
            </a:r>
            <a:r>
              <a:rPr lang="mr-IN" dirty="0" smtClean="0"/>
              <a:t>2</a:t>
            </a:r>
            <a:r>
              <a:rPr lang="mr-IN" i="1" dirty="0" smtClean="0"/>
              <a:t>x</a:t>
            </a:r>
            <a:r>
              <a:rPr lang="mr-IN" baseline="30000" dirty="0" smtClean="0"/>
              <a:t>2</a:t>
            </a:r>
            <a:r>
              <a:rPr lang="mr-IN" dirty="0" smtClean="0"/>
              <a:t> </a:t>
            </a:r>
            <a:r>
              <a:rPr lang="mr-IN" dirty="0"/>
              <a:t>+ 37</a:t>
            </a:r>
            <a:r>
              <a:rPr lang="mr-IN" i="1" dirty="0"/>
              <a:t>x</a:t>
            </a:r>
            <a:r>
              <a:rPr lang="mr-IN" dirty="0"/>
              <a:t> − </a:t>
            </a:r>
            <a:r>
              <a:rPr lang="mr-IN" dirty="0" smtClean="0"/>
              <a:t>64.</a:t>
            </a:r>
            <a:endParaRPr lang="en-US" dirty="0" smtClean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3341DDE-51A7-BB4A-A5D0-B99BDB557C68}"/>
              </a:ext>
            </a:extLst>
          </p:cNvPr>
          <p:cNvSpPr/>
          <p:nvPr/>
        </p:nvSpPr>
        <p:spPr>
          <a:xfrm>
            <a:off x="452746" y="740791"/>
            <a:ext cx="1489265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4</a:t>
            </a:r>
            <a:endParaRPr lang="en-US" sz="1800" cap="al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pic>
        <p:nvPicPr>
          <p:cNvPr id="9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03" y="963953"/>
            <a:ext cx="2987303" cy="182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072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809" y="3708825"/>
            <a:ext cx="2336919" cy="245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E8F0502-F26D-4842-97A7-E6A7B55ABA0B}"/>
              </a:ext>
            </a:extLst>
          </p:cNvPr>
          <p:cNvSpPr txBox="1"/>
          <p:nvPr/>
        </p:nvSpPr>
        <p:spPr>
          <a:xfrm>
            <a:off x="355758" y="698230"/>
            <a:ext cx="8405065" cy="4898777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Write a Polynomial Function</a:t>
            </a:r>
            <a:endParaRPr lang="en-IN" sz="1800" b="1" dirty="0" smtClean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b="1" dirty="0" err="1"/>
              <a:t>Hachi</a:t>
            </a:r>
            <a:r>
              <a:rPr lang="en-US" sz="1600" b="1" dirty="0"/>
              <a:t> makes Seminole Indian dolls to sell at the local </a:t>
            </a:r>
            <a:br>
              <a:rPr lang="en-US" sz="1600" b="1" dirty="0"/>
            </a:br>
            <a:r>
              <a:rPr lang="en-US" sz="1600" b="1" dirty="0"/>
              <a:t>street </a:t>
            </a:r>
            <a:r>
              <a:rPr lang="nb-NO" sz="1600" b="1" dirty="0"/>
              <a:t>market.</a:t>
            </a:r>
          </a:p>
          <a:p>
            <a:pPr>
              <a:spcAft>
                <a:spcPts val="600"/>
              </a:spcAft>
            </a:pPr>
            <a:r>
              <a:rPr lang="en-US" sz="1600" b="1" dirty="0"/>
              <a:t>As </a:t>
            </a:r>
            <a:r>
              <a:rPr lang="en-US" sz="1600" b="1" dirty="0" err="1"/>
              <a:t>Hachi</a:t>
            </a:r>
            <a:r>
              <a:rPr lang="en-US" sz="1600" b="1" dirty="0"/>
              <a:t> produces a greater number of dolls, she </a:t>
            </a:r>
            <a:br>
              <a:rPr lang="en-US" sz="1600" b="1" dirty="0"/>
            </a:br>
            <a:r>
              <a:rPr lang="en-US" sz="1600" b="1" dirty="0"/>
              <a:t>can lower the cost per unit. The cost </a:t>
            </a:r>
            <a:r>
              <a:rPr lang="en-US" sz="1600" b="1" i="1" dirty="0"/>
              <a:t>c </a:t>
            </a:r>
            <a:r>
              <a:rPr lang="en-US" sz="1600" b="1" dirty="0"/>
              <a:t>of making </a:t>
            </a:r>
            <a:br>
              <a:rPr lang="en-US" sz="1600" b="1" dirty="0"/>
            </a:br>
            <a:r>
              <a:rPr lang="en-US" sz="1600" b="1" i="1" dirty="0"/>
              <a:t>x </a:t>
            </a:r>
            <a:r>
              <a:rPr lang="en-US" sz="1600" b="1" dirty="0"/>
              <a:t>dolls can be represented with the function </a:t>
            </a:r>
            <a:br>
              <a:rPr lang="en-US" sz="1600" b="1" dirty="0"/>
            </a:br>
            <a:r>
              <a:rPr lang="en-US" sz="1600" b="1" i="1" dirty="0"/>
              <a:t>c</a:t>
            </a:r>
            <a:r>
              <a:rPr lang="en-US" sz="1600" b="1" dirty="0"/>
              <a:t>(</a:t>
            </a:r>
            <a:r>
              <a:rPr lang="en-US" sz="1600" b="1" i="1" dirty="0"/>
              <a:t>x</a:t>
            </a:r>
            <a:r>
              <a:rPr lang="en-US" sz="1600" b="1" dirty="0"/>
              <a:t>) = 12</a:t>
            </a:r>
            <a:r>
              <a:rPr lang="en-US" sz="1600" b="1" i="1" dirty="0"/>
              <a:t>x </a:t>
            </a:r>
            <a:r>
              <a:rPr lang="en-US" sz="1600" b="1" dirty="0"/>
              <a:t>+ 64 . The function </a:t>
            </a:r>
            <a:r>
              <a:rPr lang="en-US" sz="1600" b="1" i="1" dirty="0"/>
              <a:t>v</a:t>
            </a:r>
            <a:r>
              <a:rPr lang="en-US" sz="1600" b="1" dirty="0"/>
              <a:t>(</a:t>
            </a:r>
            <a:r>
              <a:rPr lang="en-US" sz="1600" b="1" i="1" dirty="0"/>
              <a:t>x</a:t>
            </a:r>
            <a:r>
              <a:rPr lang="en-US" sz="1600" b="1" dirty="0"/>
              <a:t>) relates the </a:t>
            </a:r>
            <a:br>
              <a:rPr lang="en-US" sz="1600" b="1" dirty="0"/>
            </a:br>
            <a:r>
              <a:rPr lang="en-US" sz="1600" b="1" dirty="0"/>
              <a:t>price </a:t>
            </a:r>
            <a:r>
              <a:rPr lang="en-US" sz="1600" b="1" i="1" dirty="0"/>
              <a:t>v </a:t>
            </a:r>
            <a:r>
              <a:rPr lang="en-US" sz="1600" b="1" dirty="0"/>
              <a:t>to the number of dolls produced, </a:t>
            </a:r>
            <a:r>
              <a:rPr lang="en-US" sz="1600" b="1" i="1" dirty="0"/>
              <a:t>x</a:t>
            </a:r>
            <a:r>
              <a:rPr lang="en-US" sz="1600" b="1" dirty="0"/>
              <a:t>.</a:t>
            </a:r>
            <a:endParaRPr lang="mr-IN" sz="1600" b="1" dirty="0"/>
          </a:p>
          <a:p>
            <a:pPr>
              <a:spcAft>
                <a:spcPts val="1200"/>
              </a:spcAft>
            </a:pPr>
            <a:r>
              <a:rPr lang="en-US" sz="1600" b="1" dirty="0"/>
              <a:t>How many Seminole Indian dolls should </a:t>
            </a:r>
            <a:r>
              <a:rPr lang="en-US" sz="1600" b="1" dirty="0" err="1"/>
              <a:t>Hachi</a:t>
            </a:r>
            <a:r>
              <a:rPr lang="en-US" sz="1600" b="1" dirty="0"/>
              <a:t> sell each week to maximize her </a:t>
            </a:r>
            <a:br>
              <a:rPr lang="en-US" sz="1600" b="1" dirty="0"/>
            </a:br>
            <a:r>
              <a:rPr lang="en-US" sz="1600" b="1" dirty="0"/>
              <a:t>profit </a:t>
            </a:r>
            <a:r>
              <a:rPr lang="en-US" sz="1600" b="1" i="1" dirty="0"/>
              <a:t>P</a:t>
            </a:r>
            <a:r>
              <a:rPr lang="en-US" sz="1600" b="1" dirty="0"/>
              <a:t>? Recall that profit equals revenue minus cost</a:t>
            </a:r>
            <a:r>
              <a:rPr lang="en-US" sz="1600" b="1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solidFill>
                  <a:srgbClr val="58585A"/>
                </a:solidFill>
              </a:rPr>
              <a:t>Interpret</a:t>
            </a:r>
            <a:endParaRPr lang="en-US" b="1" dirty="0">
              <a:solidFill>
                <a:srgbClr val="58585A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 err="1" smtClean="0"/>
              <a:t>Hachi’s</a:t>
            </a:r>
            <a:r>
              <a:rPr lang="en-US" dirty="0" smtClean="0"/>
              <a:t> </a:t>
            </a:r>
            <a:r>
              <a:rPr lang="en-US" dirty="0"/>
              <a:t>profit is modeled by a quadratic function. The domain of 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 </a:t>
            </a:r>
            <a:r>
              <a:rPr lang="en-US" dirty="0"/>
              <a:t>is the set of whole numbers. Her maximum profit cannot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correspond </a:t>
            </a:r>
            <a:r>
              <a:rPr lang="en-US" dirty="0"/>
              <a:t>to the vertex of the graph because she cannot sell a part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</a:t>
            </a:r>
            <a:r>
              <a:rPr lang="en-US" dirty="0"/>
              <a:t>a doll</a:t>
            </a:r>
            <a:r>
              <a:rPr lang="en-US" dirty="0" smtClean="0"/>
              <a:t>. Consider </a:t>
            </a:r>
            <a:r>
              <a:rPr lang="en-US" i="1" dirty="0"/>
              <a:t>P</a:t>
            </a:r>
            <a:r>
              <a:rPr lang="en-US" dirty="0"/>
              <a:t>(9) =107 and </a:t>
            </a:r>
            <a:r>
              <a:rPr lang="en-US" i="1" dirty="0"/>
              <a:t>P</a:t>
            </a:r>
            <a:r>
              <a:rPr lang="en-US" dirty="0"/>
              <a:t>(10) =106 and choose the </a:t>
            </a:r>
            <a:r>
              <a:rPr lang="en-US" dirty="0" smtClean="0"/>
              <a:t>maximum </a:t>
            </a:r>
            <a:br>
              <a:rPr lang="en-US" dirty="0" smtClean="0"/>
            </a:br>
            <a:r>
              <a:rPr lang="en-US" dirty="0" smtClean="0"/>
              <a:t>profit of the </a:t>
            </a:r>
            <a:r>
              <a:rPr lang="en-US" dirty="0"/>
              <a:t>two</a:t>
            </a:r>
            <a:r>
              <a:rPr lang="en-US" dirty="0" smtClean="0"/>
              <a:t>. </a:t>
            </a:r>
          </a:p>
          <a:p>
            <a:pPr>
              <a:spcAft>
                <a:spcPts val="600"/>
              </a:spcAft>
            </a:pPr>
            <a:r>
              <a:rPr lang="en-US" dirty="0" err="1"/>
              <a:t>Hachi’s</a:t>
            </a:r>
            <a:r>
              <a:rPr lang="en-US" dirty="0"/>
              <a:t> best business plan is to produce and sell 9 Seminole Indian dolls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per </a:t>
            </a:r>
            <a:r>
              <a:rPr lang="en-US" dirty="0"/>
              <a:t>week, for a weekly profit of $107</a:t>
            </a:r>
            <a:r>
              <a:rPr lang="en-US" dirty="0" smtClean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3341DDE-51A7-BB4A-A5D0-B99BDB557C68}"/>
              </a:ext>
            </a:extLst>
          </p:cNvPr>
          <p:cNvSpPr/>
          <p:nvPr/>
        </p:nvSpPr>
        <p:spPr>
          <a:xfrm>
            <a:off x="452746" y="740791"/>
            <a:ext cx="1489265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4</a:t>
            </a:r>
            <a:endParaRPr lang="en-US" sz="1800" cap="al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pic>
        <p:nvPicPr>
          <p:cNvPr id="9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03" y="963953"/>
            <a:ext cx="2987303" cy="182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178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430002"/>
            <a:ext cx="8341433" cy="1872307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2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Write a Polynomial Function</a:t>
            </a:r>
            <a:endParaRPr lang="en-IN" sz="1800" b="1" dirty="0">
              <a:solidFill>
                <a:srgbClr val="58585A"/>
              </a:solidFill>
            </a:endParaRPr>
          </a:p>
          <a:p>
            <a:pPr marL="1476375" indent="-1466850">
              <a:spcAft>
                <a:spcPts val="600"/>
              </a:spcAft>
              <a:tabLst>
                <a:tab pos="1062038" algn="l"/>
                <a:tab pos="1465263" algn="l"/>
              </a:tabLst>
            </a:pPr>
            <a:r>
              <a:rPr lang="en-IN" sz="1800" b="1" dirty="0">
                <a:solidFill>
                  <a:srgbClr val="D92B31"/>
                </a:solidFill>
              </a:rPr>
              <a:t>Try It!</a:t>
            </a:r>
            <a:endParaRPr lang="en-IN" sz="18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 startAt="4"/>
            </a:pPr>
            <a:r>
              <a:rPr lang="en-IN" sz="1600" b="1" dirty="0" smtClean="0"/>
              <a:t>​</a:t>
            </a:r>
            <a:r>
              <a:rPr lang="en-US" sz="1600" dirty="0"/>
              <a:t>The cost of </a:t>
            </a:r>
            <a:r>
              <a:rPr lang="en-US" sz="1600" dirty="0" err="1"/>
              <a:t>Hachi's</a:t>
            </a:r>
            <a:r>
              <a:rPr lang="en-US" sz="1600" dirty="0"/>
              <a:t> materials changes so that her new </a:t>
            </a:r>
            <a:r>
              <a:rPr lang="en-US" sz="1600" dirty="0" smtClean="0"/>
              <a:t>cost function </a:t>
            </a:r>
            <a:r>
              <a:rPr lang="en-US" sz="1600" dirty="0"/>
              <a:t>is </a:t>
            </a:r>
            <a:r>
              <a:rPr lang="en-US" sz="1600" i="1" dirty="0"/>
              <a:t>c</a:t>
            </a:r>
            <a:r>
              <a:rPr lang="en-US" sz="1600" dirty="0"/>
              <a:t>(</a:t>
            </a:r>
            <a:r>
              <a:rPr lang="en-US" sz="1600" i="1" dirty="0"/>
              <a:t>x</a:t>
            </a:r>
            <a:r>
              <a:rPr lang="en-US" sz="1600" dirty="0"/>
              <a:t>) = 4</a:t>
            </a:r>
            <a:r>
              <a:rPr lang="en-US" sz="1600" i="1" dirty="0"/>
              <a:t>x</a:t>
            </a:r>
            <a:r>
              <a:rPr lang="en-US" sz="1600" dirty="0"/>
              <a:t> + 42</a:t>
            </a:r>
            <a:r>
              <a:rPr lang="en-US" sz="1600" dirty="0" smtClean="0"/>
              <a:t>.</a:t>
            </a:r>
          </a:p>
          <a:p>
            <a:pPr marL="360000">
              <a:spcAft>
                <a:spcPts val="1200"/>
              </a:spcAft>
            </a:pPr>
            <a:r>
              <a:rPr lang="en-US" sz="1600" dirty="0" smtClean="0"/>
              <a:t>Find </a:t>
            </a:r>
            <a:r>
              <a:rPr lang="en-US" sz="1600" dirty="0"/>
              <a:t>the new profit function. Then find the quantity </a:t>
            </a:r>
            <a:r>
              <a:rPr lang="en-US" sz="1600" dirty="0" smtClean="0"/>
              <a:t>that maximizes </a:t>
            </a:r>
            <a:r>
              <a:rPr lang="en-US" sz="1600" dirty="0"/>
              <a:t>profit and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calculate </a:t>
            </a:r>
            <a:r>
              <a:rPr lang="en-US" sz="1600" dirty="0"/>
              <a:t>the profit.</a:t>
            </a:r>
            <a:endParaRPr lang="en-US" sz="1600" i="1" dirty="0" smtClean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646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4</a:t>
            </a:r>
            <a:endParaRPr lang="en-US" sz="1800" cap="al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2D026447-33AB-3446-A23C-AFEA10330B4F}"/>
              </a:ext>
            </a:extLst>
          </p:cNvPr>
          <p:cNvCxnSpPr/>
          <p:nvPr/>
        </p:nvCxnSpPr>
        <p:spPr>
          <a:xfrm>
            <a:off x="425301" y="894900"/>
            <a:ext cx="8304028" cy="0"/>
          </a:xfrm>
          <a:prstGeom prst="line">
            <a:avLst/>
          </a:prstGeom>
          <a:ln w="25400">
            <a:solidFill>
              <a:srgbClr val="0078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532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681921"/>
            <a:ext cx="8321209" cy="990015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Compare Two Polynomial Functions</a:t>
            </a:r>
            <a:endParaRPr lang="en-US" sz="1800" b="1" dirty="0" smtClean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err="1" smtClean="0"/>
              <a:t>Hachi's</a:t>
            </a:r>
            <a:r>
              <a:rPr lang="en-US" sz="1600" b="1" dirty="0" smtClean="0"/>
              <a:t> </a:t>
            </a:r>
            <a:r>
              <a:rPr lang="en-US" sz="1600" b="1" dirty="0"/>
              <a:t>profit function, </a:t>
            </a:r>
            <a:r>
              <a:rPr lang="en-US" sz="1600" b="1" i="1" dirty="0"/>
              <a:t>y</a:t>
            </a:r>
            <a:r>
              <a:rPr lang="en-US" sz="1600" b="1" dirty="0"/>
              <a:t> = </a:t>
            </a:r>
            <a:r>
              <a:rPr lang="en-US" sz="1600" b="1" i="1" dirty="0" smtClean="0"/>
              <a:t>P</a:t>
            </a:r>
            <a:r>
              <a:rPr lang="en-US" sz="1600" b="1" dirty="0" smtClean="0"/>
              <a:t>(</a:t>
            </a:r>
            <a:r>
              <a:rPr lang="en-US" sz="1600" b="1" i="1" dirty="0" smtClean="0"/>
              <a:t>x</a:t>
            </a:r>
            <a:r>
              <a:rPr lang="en-US" sz="1600" b="1" dirty="0" smtClean="0"/>
              <a:t>)</a:t>
            </a:r>
            <a:r>
              <a:rPr lang="en-US" sz="1600" b="1" dirty="0"/>
              <a:t>, is represented by the graph. Kiyo’s </a:t>
            </a:r>
            <a:r>
              <a:rPr lang="en-US" sz="1600" b="1" dirty="0" smtClean="0"/>
              <a:t>profit from </a:t>
            </a:r>
            <a:r>
              <a:rPr lang="en-US" sz="1600" b="1" dirty="0"/>
              <a:t>selling</a:t>
            </a:r>
            <a:r>
              <a:rPr lang="en-US" sz="1600" b="1" i="1" dirty="0"/>
              <a:t> x</a:t>
            </a:r>
            <a:r>
              <a:rPr lang="en-US" sz="1600" b="1" dirty="0"/>
              <a:t> </a:t>
            </a:r>
            <a:r>
              <a:rPr lang="en-US" sz="1600" b="1" dirty="0" smtClean="0"/>
              <a:t>flowerpots </a:t>
            </a:r>
            <a:r>
              <a:rPr lang="en-US" sz="1600" b="1" dirty="0"/>
              <a:t>can be modeled by the function shown</a:t>
            </a:r>
            <a:r>
              <a:rPr lang="en-US" sz="1600" b="1" dirty="0" smtClean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72448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5</a:t>
            </a:r>
            <a:endParaRPr lang="en-US" sz="1800" cap="al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pic>
        <p:nvPicPr>
          <p:cNvPr id="9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72" y="1761273"/>
            <a:ext cx="6055194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259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beenu\Desktop\images\Screenshot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749" y="3433926"/>
            <a:ext cx="4462141" cy="68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beenu\Desktop\images\Screenshot_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601" y="2410318"/>
            <a:ext cx="3733325" cy="90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681921"/>
            <a:ext cx="8321209" cy="339067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Compare Two Polynomial Functions</a:t>
            </a:r>
            <a:endParaRPr lang="en-US" sz="1800" b="1" dirty="0" smtClean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err="1" smtClean="0"/>
              <a:t>Hachi's</a:t>
            </a:r>
            <a:r>
              <a:rPr lang="en-US" sz="1600" b="1" dirty="0" smtClean="0"/>
              <a:t> </a:t>
            </a:r>
            <a:r>
              <a:rPr lang="en-US" sz="1600" b="1" dirty="0"/>
              <a:t>profit function, </a:t>
            </a:r>
            <a:r>
              <a:rPr lang="en-US" sz="1600" b="1" i="1" dirty="0"/>
              <a:t>y</a:t>
            </a:r>
            <a:r>
              <a:rPr lang="en-US" sz="1600" b="1" dirty="0"/>
              <a:t> = </a:t>
            </a:r>
            <a:r>
              <a:rPr lang="en-US" sz="1600" b="1" i="1" dirty="0" smtClean="0"/>
              <a:t>P</a:t>
            </a:r>
            <a:r>
              <a:rPr lang="en-US" sz="1600" b="1" dirty="0" smtClean="0"/>
              <a:t>(</a:t>
            </a:r>
            <a:r>
              <a:rPr lang="en-US" sz="1600" b="1" i="1" dirty="0" smtClean="0"/>
              <a:t>x</a:t>
            </a:r>
            <a:r>
              <a:rPr lang="en-US" sz="1600" b="1" dirty="0" smtClean="0"/>
              <a:t>)</a:t>
            </a:r>
            <a:r>
              <a:rPr lang="en-US" sz="1600" b="1" dirty="0"/>
              <a:t>, is represented by the graph. Kiyo’s </a:t>
            </a:r>
            <a:r>
              <a:rPr lang="en-US" sz="1600" b="1" dirty="0" smtClean="0"/>
              <a:t>profit from </a:t>
            </a:r>
            <a:r>
              <a:rPr lang="en-US" sz="1600" b="1" dirty="0"/>
              <a:t>selling</a:t>
            </a:r>
            <a:r>
              <a:rPr lang="en-US" sz="1600" b="1" i="1" dirty="0"/>
              <a:t> x</a:t>
            </a:r>
            <a:r>
              <a:rPr lang="en-US" sz="1600" b="1" dirty="0"/>
              <a:t> </a:t>
            </a:r>
            <a:r>
              <a:rPr lang="en-US" sz="1600" b="1" dirty="0" smtClean="0"/>
              <a:t>flowerpots </a:t>
            </a:r>
            <a:r>
              <a:rPr lang="en-US" sz="1600" b="1" dirty="0"/>
              <a:t>can be modeled by the function shown</a:t>
            </a:r>
            <a:r>
              <a:rPr lang="en-US" sz="1600" b="1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1600" b="1" dirty="0" smtClean="0"/>
              <a:t>Find </a:t>
            </a:r>
            <a:r>
              <a:rPr lang="en-US" sz="1600" b="1" dirty="0"/>
              <a:t>the </a:t>
            </a:r>
            <a:r>
              <a:rPr lang="en-US" sz="1600" b="1" i="1" dirty="0" smtClean="0"/>
              <a:t>y</a:t>
            </a:r>
            <a:r>
              <a:rPr lang="en-US" sz="1600" b="1" dirty="0" smtClean="0"/>
              <a:t>-</a:t>
            </a:r>
            <a:r>
              <a:rPr lang="en-US" sz="1600" b="1" dirty="0"/>
              <a:t>intercept of each function. Who would lose more money </a:t>
            </a:r>
            <a:r>
              <a:rPr lang="en-US" sz="1600" b="1" dirty="0" smtClean="0"/>
              <a:t>if neither </a:t>
            </a:r>
            <a:r>
              <a:rPr lang="en-US" sz="1600" b="1" dirty="0"/>
              <a:t>person sold any items</a:t>
            </a:r>
            <a:r>
              <a:rPr lang="en-US" sz="1600" b="1" dirty="0" smtClean="0"/>
              <a:t>?</a:t>
            </a:r>
          </a:p>
          <a:p>
            <a:pPr marL="342000">
              <a:spcAft>
                <a:spcPts val="1200"/>
              </a:spcAft>
            </a:pPr>
            <a:r>
              <a:rPr lang="en-US" dirty="0" smtClean="0"/>
              <a:t>The </a:t>
            </a:r>
            <a:r>
              <a:rPr lang="en-US" i="1" dirty="0"/>
              <a:t>y</a:t>
            </a:r>
            <a:r>
              <a:rPr lang="en-US" dirty="0"/>
              <a:t>-intercept of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−</a:t>
            </a:r>
            <a:r>
              <a:rPr lang="en-US" dirty="0" smtClean="0"/>
              <a:t>64.</a:t>
            </a:r>
            <a:br>
              <a:rPr lang="en-US" dirty="0" smtClean="0"/>
            </a:br>
            <a:r>
              <a:rPr lang="en-US" dirty="0"/>
              <a:t>If </a:t>
            </a:r>
            <a:r>
              <a:rPr lang="en-US" dirty="0" err="1"/>
              <a:t>Hachi</a:t>
            </a:r>
            <a:r>
              <a:rPr lang="en-US" dirty="0"/>
              <a:t> does not sell any dolls </a:t>
            </a:r>
            <a:r>
              <a:rPr lang="en-US" dirty="0" smtClean="0"/>
              <a:t>this</a:t>
            </a:r>
            <a:br>
              <a:rPr lang="en-US" dirty="0" smtClean="0"/>
            </a:br>
            <a:r>
              <a:rPr lang="en-US" dirty="0"/>
              <a:t>week, she will lose $64</a:t>
            </a:r>
            <a:r>
              <a:rPr lang="en-US" dirty="0" smtClean="0"/>
              <a:t>.</a:t>
            </a:r>
          </a:p>
          <a:p>
            <a:pPr marL="342000">
              <a:spcAft>
                <a:spcPts val="600"/>
              </a:spcAft>
            </a:pPr>
            <a:r>
              <a:rPr lang="en-US" dirty="0"/>
              <a:t>Substitute 0 for </a:t>
            </a:r>
            <a:r>
              <a:rPr lang="en-US" i="1" dirty="0"/>
              <a:t>x </a:t>
            </a:r>
            <a:r>
              <a:rPr lang="en-US" dirty="0"/>
              <a:t>in </a:t>
            </a:r>
            <a:r>
              <a:rPr lang="en-US" i="1" dirty="0"/>
              <a:t>r </a:t>
            </a:r>
            <a:r>
              <a:rPr lang="en-US" dirty="0"/>
              <a:t>to find the </a:t>
            </a:r>
            <a:r>
              <a:rPr lang="en-US" i="1" dirty="0"/>
              <a:t>y </a:t>
            </a:r>
            <a:r>
              <a:rPr lang="en-US" dirty="0"/>
              <a:t>-intercept</a:t>
            </a:r>
            <a:r>
              <a:rPr lang="en-US" dirty="0" smtClean="0"/>
              <a:t>.</a:t>
            </a:r>
          </a:p>
          <a:p>
            <a:pPr marL="342000">
              <a:spcAft>
                <a:spcPts val="600"/>
              </a:spcAft>
              <a:tabLst>
                <a:tab pos="517525" algn="l"/>
                <a:tab pos="860425" algn="l"/>
              </a:tabLst>
            </a:pPr>
            <a:r>
              <a:rPr lang="pt-BR" i="1" dirty="0" smtClean="0"/>
              <a:t>	r</a:t>
            </a:r>
            <a:r>
              <a:rPr lang="pt-BR" dirty="0" smtClean="0"/>
              <a:t>(0)	= </a:t>
            </a:r>
            <a:r>
              <a:rPr lang="pt-BR" dirty="0"/>
              <a:t>0(0 − 3)(10 − 0</a:t>
            </a:r>
            <a:r>
              <a:rPr lang="pt-BR" dirty="0" smtClean="0"/>
              <a:t>)</a:t>
            </a:r>
          </a:p>
          <a:p>
            <a:pPr marL="342000" lvl="3">
              <a:tabLst>
                <a:tab pos="517525" algn="l"/>
                <a:tab pos="860425" algn="l"/>
              </a:tabLst>
            </a:pPr>
            <a:r>
              <a:rPr lang="pt-BR" dirty="0" smtClean="0"/>
              <a:t>	</a:t>
            </a:r>
            <a:r>
              <a:rPr lang="en-US" dirty="0" smtClean="0"/>
              <a:t>	= </a:t>
            </a:r>
            <a:r>
              <a:rPr lang="en-US" dirty="0"/>
              <a:t>0</a:t>
            </a:r>
            <a:endParaRPr lang="en-US" b="1" dirty="0" smtClean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72448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5</a:t>
            </a:r>
            <a:endParaRPr lang="en-US" sz="1800" cap="al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1112" y="4550735"/>
            <a:ext cx="7389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y</a:t>
            </a:r>
            <a:r>
              <a:rPr lang="en-US" dirty="0"/>
              <a:t>-intercept of </a:t>
            </a:r>
            <a:r>
              <a:rPr lang="en-US" i="1" dirty="0"/>
              <a:t>r</a:t>
            </a:r>
            <a:r>
              <a:rPr lang="en-US" dirty="0"/>
              <a:t> is 0. If Kiyo does not sell any flowerpots, he will not </a:t>
            </a:r>
            <a:r>
              <a:rPr lang="en-US" dirty="0" smtClean="0"/>
              <a:t>lose any </a:t>
            </a:r>
            <a:r>
              <a:rPr lang="en-US" dirty="0"/>
              <a:t>money.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</a:t>
            </a:r>
            <a:r>
              <a:rPr lang="en-US" dirty="0"/>
              <a:t>, </a:t>
            </a:r>
            <a:r>
              <a:rPr lang="en-US" dirty="0" err="1"/>
              <a:t>Hachi</a:t>
            </a:r>
            <a:r>
              <a:rPr lang="en-US" dirty="0"/>
              <a:t> loses more money by not making any sales.</a:t>
            </a:r>
          </a:p>
        </p:txBody>
      </p:sp>
    </p:spTree>
    <p:extLst>
      <p:ext uri="{BB962C8B-B14F-4D97-AF65-F5344CB8AC3E}">
        <p14:creationId xmlns:p14="http://schemas.microsoft.com/office/powerpoint/2010/main" val="838440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681921"/>
            <a:ext cx="8321209" cy="4252446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1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Compare Two Polynomial Functions</a:t>
            </a:r>
            <a:endParaRPr lang="en-US" sz="1800" b="1" dirty="0" smtClean="0">
              <a:solidFill>
                <a:srgbClr val="58585A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600" b="1" dirty="0" err="1" smtClean="0"/>
              <a:t>Hachi's</a:t>
            </a:r>
            <a:r>
              <a:rPr lang="en-US" sz="1600" b="1" dirty="0" smtClean="0"/>
              <a:t> </a:t>
            </a:r>
            <a:r>
              <a:rPr lang="en-US" sz="1600" b="1" dirty="0"/>
              <a:t>profit function, </a:t>
            </a:r>
            <a:r>
              <a:rPr lang="en-US" sz="1600" b="1" i="1" dirty="0"/>
              <a:t>y</a:t>
            </a:r>
            <a:r>
              <a:rPr lang="en-US" sz="1600" b="1" dirty="0"/>
              <a:t> = </a:t>
            </a:r>
            <a:r>
              <a:rPr lang="en-US" sz="1600" b="1" i="1" dirty="0" smtClean="0"/>
              <a:t>P</a:t>
            </a:r>
            <a:r>
              <a:rPr lang="en-US" sz="1600" b="1" dirty="0" smtClean="0"/>
              <a:t>(</a:t>
            </a:r>
            <a:r>
              <a:rPr lang="en-US" sz="1600" b="1" i="1" dirty="0" smtClean="0"/>
              <a:t>x</a:t>
            </a:r>
            <a:r>
              <a:rPr lang="en-US" sz="1600" b="1" dirty="0" smtClean="0"/>
              <a:t>)</a:t>
            </a:r>
            <a:r>
              <a:rPr lang="en-US" sz="1600" b="1" dirty="0"/>
              <a:t>, is represented by the graph. Kiyo’s </a:t>
            </a:r>
            <a:r>
              <a:rPr lang="en-US" sz="1600" b="1" dirty="0" smtClean="0"/>
              <a:t>profit from </a:t>
            </a:r>
            <a:r>
              <a:rPr lang="en-US" sz="1600" b="1" dirty="0"/>
              <a:t>selling</a:t>
            </a:r>
            <a:r>
              <a:rPr lang="en-US" sz="1600" b="1" i="1" dirty="0"/>
              <a:t> x</a:t>
            </a:r>
            <a:r>
              <a:rPr lang="en-US" sz="1600" b="1" dirty="0"/>
              <a:t> </a:t>
            </a:r>
            <a:r>
              <a:rPr lang="en-US" sz="1600" b="1" dirty="0" smtClean="0"/>
              <a:t>flowerpots </a:t>
            </a:r>
            <a:r>
              <a:rPr lang="en-US" sz="1600" b="1" dirty="0"/>
              <a:t>can be modeled by the function shown</a:t>
            </a:r>
            <a:r>
              <a:rPr lang="en-US" sz="1600" b="1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 startAt="2"/>
            </a:pPr>
            <a:r>
              <a:rPr lang="en-US" sz="1600" b="1" dirty="0"/>
              <a:t>Interpret the end behavior of the functions</a:t>
            </a:r>
            <a:r>
              <a:rPr lang="en-US" sz="1600" b="1" dirty="0" smtClean="0"/>
              <a:t>.</a:t>
            </a:r>
          </a:p>
          <a:p>
            <a:pPr marL="342000">
              <a:spcAft>
                <a:spcPts val="1200"/>
              </a:spcAft>
            </a:pPr>
            <a:r>
              <a:rPr lang="en-US" dirty="0"/>
              <a:t>The domain of each function includes only non-negative </a:t>
            </a:r>
            <a:r>
              <a:rPr lang="en-US" dirty="0" smtClean="0"/>
              <a:t>values. </a:t>
            </a:r>
          </a:p>
          <a:p>
            <a:pPr marL="342000">
              <a:spcAft>
                <a:spcPts val="1200"/>
              </a:spcAft>
            </a:pPr>
            <a:r>
              <a:rPr lang="en-US" dirty="0" smtClean="0"/>
              <a:t>The </a:t>
            </a:r>
            <a:r>
              <a:rPr lang="en-US" dirty="0"/>
              <a:t>graph of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shows that the end behavior, as </a:t>
            </a:r>
            <a:r>
              <a:rPr lang="en-US" i="1" dirty="0"/>
              <a:t>x</a:t>
            </a:r>
            <a:r>
              <a:rPr lang="en-US" dirty="0"/>
              <a:t> → ∞, is </a:t>
            </a:r>
            <a:r>
              <a:rPr lang="en-US" i="1" dirty="0"/>
              <a:t>y</a:t>
            </a:r>
            <a:r>
              <a:rPr lang="en-US" dirty="0"/>
              <a:t> → −∞</a:t>
            </a:r>
            <a:r>
              <a:rPr lang="en-US" dirty="0" smtClean="0"/>
              <a:t>. </a:t>
            </a:r>
          </a:p>
          <a:p>
            <a:pPr marL="342000">
              <a:spcAft>
                <a:spcPts val="1200"/>
              </a:spcAft>
            </a:pPr>
            <a:r>
              <a:rPr lang="en-US" dirty="0" smtClean="0"/>
              <a:t>Rewrite </a:t>
            </a:r>
            <a:r>
              <a:rPr lang="en-US" dirty="0"/>
              <a:t>the function </a:t>
            </a:r>
            <a:r>
              <a:rPr lang="en-US" i="1" dirty="0"/>
              <a:t>r</a:t>
            </a:r>
            <a:r>
              <a:rPr lang="en-US" dirty="0"/>
              <a:t> in standard form to identify end behavior</a:t>
            </a:r>
            <a:r>
              <a:rPr lang="en-US" dirty="0" smtClean="0"/>
              <a:t>.</a:t>
            </a:r>
          </a:p>
          <a:p>
            <a:pPr>
              <a:tabLst>
                <a:tab pos="746125" algn="l"/>
                <a:tab pos="1203325" algn="l"/>
              </a:tabLst>
            </a:pPr>
            <a:r>
              <a:rPr lang="pt-BR" i="1" dirty="0" smtClean="0"/>
              <a:t>	r</a:t>
            </a:r>
            <a:r>
              <a:rPr lang="pt-BR" dirty="0" smtClean="0"/>
              <a:t>(</a:t>
            </a:r>
            <a:r>
              <a:rPr lang="pt-BR" i="1" dirty="0" smtClean="0"/>
              <a:t>x</a:t>
            </a:r>
            <a:r>
              <a:rPr lang="pt-BR" dirty="0" smtClean="0"/>
              <a:t>) = </a:t>
            </a:r>
            <a:r>
              <a:rPr lang="pt-BR" i="1" dirty="0"/>
              <a:t>x</a:t>
            </a:r>
            <a:r>
              <a:rPr lang="pt-BR" dirty="0"/>
              <a:t>(</a:t>
            </a:r>
            <a:r>
              <a:rPr lang="pt-BR" i="1" dirty="0"/>
              <a:t>x </a:t>
            </a:r>
            <a:r>
              <a:rPr lang="pt-BR" dirty="0"/>
              <a:t>− 3)(10 − </a:t>
            </a:r>
            <a:r>
              <a:rPr lang="pt-BR" i="1" dirty="0"/>
              <a:t>x</a:t>
            </a:r>
            <a:r>
              <a:rPr lang="pt-BR" dirty="0" smtClean="0"/>
              <a:t>)</a:t>
            </a:r>
          </a:p>
          <a:p>
            <a:pPr lvl="2">
              <a:tabLst>
                <a:tab pos="1060450" algn="l"/>
              </a:tabLst>
            </a:pPr>
            <a:r>
              <a:rPr lang="en-US" dirty="0" smtClean="0"/>
              <a:t>	= (</a:t>
            </a:r>
            <a:r>
              <a:rPr lang="en-US" i="1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− 3</a:t>
            </a:r>
            <a:r>
              <a:rPr lang="en-US" i="1" dirty="0"/>
              <a:t>x</a:t>
            </a:r>
            <a:r>
              <a:rPr lang="en-US" dirty="0"/>
              <a:t>)(10 − </a:t>
            </a:r>
            <a:r>
              <a:rPr lang="en-US" i="1" dirty="0"/>
              <a:t>x</a:t>
            </a:r>
            <a:r>
              <a:rPr lang="en-US" dirty="0" smtClean="0"/>
              <a:t>)</a:t>
            </a:r>
          </a:p>
          <a:p>
            <a:pPr>
              <a:spcAft>
                <a:spcPts val="1200"/>
              </a:spcAft>
              <a:tabLst>
                <a:tab pos="1060450" algn="l"/>
              </a:tabLst>
            </a:pPr>
            <a:r>
              <a:rPr lang="fr-FR" dirty="0" smtClean="0"/>
              <a:t>	= </a:t>
            </a:r>
            <a:r>
              <a:rPr lang="fr-FR" dirty="0"/>
              <a:t>−</a:t>
            </a:r>
            <a:r>
              <a:rPr lang="fr-FR" i="1" dirty="0" smtClean="0"/>
              <a:t>x</a:t>
            </a:r>
            <a:r>
              <a:rPr lang="fr-FR" baseline="30000" dirty="0" smtClean="0"/>
              <a:t>3</a:t>
            </a:r>
            <a:r>
              <a:rPr lang="fr-FR" dirty="0" smtClean="0"/>
              <a:t> </a:t>
            </a:r>
            <a:r>
              <a:rPr lang="fr-FR" dirty="0"/>
              <a:t>+ </a:t>
            </a:r>
            <a:r>
              <a:rPr lang="fr-FR" dirty="0" smtClean="0"/>
              <a:t>13</a:t>
            </a:r>
            <a:r>
              <a:rPr lang="fr-FR" i="1" dirty="0" smtClean="0"/>
              <a:t>x</a:t>
            </a:r>
            <a:r>
              <a:rPr lang="fr-FR" baseline="30000" dirty="0" smtClean="0"/>
              <a:t>2</a:t>
            </a:r>
            <a:r>
              <a:rPr lang="fr-FR" dirty="0" smtClean="0"/>
              <a:t> </a:t>
            </a:r>
            <a:r>
              <a:rPr lang="fr-FR" dirty="0"/>
              <a:t>− 30</a:t>
            </a:r>
            <a:r>
              <a:rPr lang="fr-FR" i="1" dirty="0"/>
              <a:t>x</a:t>
            </a:r>
            <a:endParaRPr lang="en-US" dirty="0" smtClean="0"/>
          </a:p>
          <a:p>
            <a:pPr marL="342000">
              <a:spcAft>
                <a:spcPts val="1200"/>
              </a:spcAft>
            </a:pPr>
            <a:r>
              <a:rPr lang="en-US" dirty="0" smtClean="0"/>
              <a:t>Because </a:t>
            </a:r>
            <a:r>
              <a:rPr lang="en-US" dirty="0"/>
              <a:t>the leading coefficient is negative, we know that as </a:t>
            </a:r>
            <a:r>
              <a:rPr lang="en-US" i="1" dirty="0"/>
              <a:t>x</a:t>
            </a:r>
            <a:r>
              <a:rPr lang="en-US" dirty="0"/>
              <a:t> → </a:t>
            </a:r>
            <a:r>
              <a:rPr lang="en-US" dirty="0" smtClean="0"/>
              <a:t>∞, </a:t>
            </a:r>
            <a:r>
              <a:rPr lang="en-US" i="1" dirty="0"/>
              <a:t>y</a:t>
            </a:r>
            <a:r>
              <a:rPr lang="en-US" dirty="0"/>
              <a:t> → −</a:t>
            </a:r>
            <a:r>
              <a:rPr lang="en-US" dirty="0" smtClean="0"/>
              <a:t>∞.</a:t>
            </a:r>
            <a:endParaRPr lang="en-US" dirty="0"/>
          </a:p>
          <a:p>
            <a:pPr>
              <a:spcAft>
                <a:spcPts val="1200"/>
              </a:spcAft>
              <a:tabLst>
                <a:tab pos="342900" algn="l"/>
              </a:tabLst>
            </a:pPr>
            <a:r>
              <a:rPr lang="en-US" dirty="0" smtClean="0"/>
              <a:t>	Kiyo </a:t>
            </a:r>
            <a:r>
              <a:rPr lang="en-US" dirty="0"/>
              <a:t>and </a:t>
            </a:r>
            <a:r>
              <a:rPr lang="en-US" dirty="0" err="1"/>
              <a:t>Hachi</a:t>
            </a:r>
            <a:r>
              <a:rPr lang="en-US" dirty="0"/>
              <a:t> each have a finite number of items they should sell </a:t>
            </a:r>
            <a:r>
              <a:rPr lang="en-US" dirty="0" smtClean="0"/>
              <a:t>to maximize </a:t>
            </a:r>
            <a:r>
              <a:rPr lang="en-US" dirty="0"/>
              <a:t>profits.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They </a:t>
            </a:r>
            <a:r>
              <a:rPr lang="en-US" dirty="0"/>
              <a:t>will both lose money if they sell too many items.</a:t>
            </a:r>
            <a:endParaRPr lang="en-US" b="1" dirty="0" smtClean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72448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>
                <a:solidFill>
                  <a:schemeClr val="bg1"/>
                </a:solidFill>
              </a:rPr>
              <a:t>Example </a:t>
            </a:r>
            <a:r>
              <a:rPr lang="en-IN" sz="1800" b="1" cap="all" dirty="0" smtClean="0">
                <a:solidFill>
                  <a:schemeClr val="bg1"/>
                </a:solidFill>
              </a:rPr>
              <a:t>5</a:t>
            </a:r>
            <a:endParaRPr lang="en-US" sz="1800" cap="al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369332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en-IN" sz="1800" b="1" dirty="0" smtClean="0">
                <a:solidFill>
                  <a:srgbClr val="137F97"/>
                </a:solidFill>
              </a:rPr>
              <a:t>APPLICATION</a:t>
            </a:r>
            <a:endParaRPr lang="en-IN" sz="1800" dirty="0">
              <a:solidFill>
                <a:srgbClr val="137F97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8F64C450-5A2A-B44B-B667-D61D459945DB}"/>
              </a:ext>
            </a:extLst>
          </p:cNvPr>
          <p:cNvSpPr/>
          <p:nvPr/>
        </p:nvSpPr>
        <p:spPr>
          <a:xfrm>
            <a:off x="429954" y="5371186"/>
            <a:ext cx="7213139" cy="714653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C02B43"/>
                </a:solidFill>
              </a:rPr>
              <a:t>USE STRUCTURE</a:t>
            </a:r>
            <a:endParaRPr lang="de-DE" sz="1200" b="1" dirty="0" smtClean="0">
              <a:solidFill>
                <a:srgbClr val="C02B43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As </a:t>
            </a:r>
            <a:r>
              <a:rPr lang="en-US" sz="1200" i="1" dirty="0">
                <a:solidFill>
                  <a:schemeClr val="tx1"/>
                </a:solidFill>
              </a:rPr>
              <a:t>x </a:t>
            </a:r>
            <a:r>
              <a:rPr lang="en-US" sz="1200" dirty="0">
                <a:solidFill>
                  <a:schemeClr val="tx1"/>
                </a:solidFill>
              </a:rPr>
              <a:t>approaches </a:t>
            </a:r>
            <a:r>
              <a:rPr lang="en-US" sz="1200" dirty="0" smtClean="0">
                <a:solidFill>
                  <a:schemeClr val="tx1"/>
                </a:solidFill>
              </a:rPr>
              <a:t>positive infinity </a:t>
            </a:r>
            <a:r>
              <a:rPr lang="en-US" sz="1200" dirty="0">
                <a:solidFill>
                  <a:schemeClr val="tx1"/>
                </a:solidFill>
              </a:rPr>
              <a:t>or negative infinity, </a:t>
            </a:r>
            <a:r>
              <a:rPr lang="en-US" sz="1200" dirty="0" smtClean="0">
                <a:solidFill>
                  <a:schemeClr val="tx1"/>
                </a:solidFill>
              </a:rPr>
              <a:t>the leading </a:t>
            </a:r>
            <a:r>
              <a:rPr lang="en-US" sz="1200" dirty="0">
                <a:solidFill>
                  <a:schemeClr val="tx1"/>
                </a:solidFill>
              </a:rPr>
              <a:t>term of the </a:t>
            </a:r>
            <a:r>
              <a:rPr lang="en-US" sz="1200" dirty="0" smtClean="0">
                <a:solidFill>
                  <a:schemeClr val="tx1"/>
                </a:solidFill>
              </a:rPr>
              <a:t>polynomial determines </a:t>
            </a:r>
            <a:r>
              <a:rPr lang="en-US" sz="1200" dirty="0">
                <a:solidFill>
                  <a:schemeClr val="tx1"/>
                </a:solidFill>
              </a:rPr>
              <a:t>the end behavior </a:t>
            </a:r>
            <a:r>
              <a:rPr lang="en-US" sz="1200" dirty="0" smtClean="0">
                <a:solidFill>
                  <a:schemeClr val="tx1"/>
                </a:solidFill>
              </a:rPr>
              <a:t>of the </a:t>
            </a:r>
            <a:r>
              <a:rPr lang="en-US" sz="1200" dirty="0">
                <a:solidFill>
                  <a:schemeClr val="tx1"/>
                </a:solidFill>
              </a:rPr>
              <a:t>graph of the function.</a:t>
            </a:r>
            <a:endParaRPr lang="en-IN" sz="12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33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E8F0502-F26D-4842-97A7-E6A7B55ABA0B}"/>
              </a:ext>
            </a:extLst>
          </p:cNvPr>
          <p:cNvSpPr txBox="1"/>
          <p:nvPr/>
        </p:nvSpPr>
        <p:spPr>
          <a:xfrm>
            <a:off x="355758" y="430002"/>
            <a:ext cx="8341433" cy="171841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2000"/>
              </a:spcAft>
              <a:tabLst>
                <a:tab pos="1584000" algn="l"/>
              </a:tabLst>
            </a:pPr>
            <a:r>
              <a:rPr lang="en-IN" sz="1800" b="1" dirty="0">
                <a:solidFill>
                  <a:srgbClr val="0078AE"/>
                </a:solidFill>
              </a:rPr>
              <a:t>	</a:t>
            </a:r>
            <a:r>
              <a:rPr lang="en-US" sz="1800" b="1" dirty="0">
                <a:solidFill>
                  <a:srgbClr val="58585A"/>
                </a:solidFill>
              </a:rPr>
              <a:t>Compare Two Polynomial Functions</a:t>
            </a:r>
            <a:endParaRPr lang="en-IN" sz="1800" b="1" dirty="0">
              <a:solidFill>
                <a:srgbClr val="58585A"/>
              </a:solidFill>
            </a:endParaRPr>
          </a:p>
          <a:p>
            <a:pPr marL="1476375" indent="-1466850">
              <a:spcAft>
                <a:spcPts val="600"/>
              </a:spcAft>
              <a:tabLst>
                <a:tab pos="1062038" algn="l"/>
                <a:tab pos="1465263" algn="l"/>
              </a:tabLst>
            </a:pPr>
            <a:r>
              <a:rPr lang="en-IN" sz="1800" b="1" dirty="0">
                <a:solidFill>
                  <a:srgbClr val="D92B31"/>
                </a:solidFill>
              </a:rPr>
              <a:t>Try It!</a:t>
            </a:r>
            <a:endParaRPr lang="en-IN" sz="1800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n-IN" sz="1600" b="1" dirty="0" smtClean="0"/>
              <a:t>​</a:t>
            </a:r>
            <a:r>
              <a:rPr lang="en-IN" sz="1600" b="1" dirty="0"/>
              <a:t>​</a:t>
            </a:r>
            <a:r>
              <a:rPr lang="en-US" sz="1600" dirty="0" smtClean="0"/>
              <a:t>Compare </a:t>
            </a:r>
            <a:r>
              <a:rPr lang="en-US" sz="1600" dirty="0"/>
              <a:t>the profit functions of two </a:t>
            </a:r>
            <a:r>
              <a:rPr lang="en-US" sz="1600" dirty="0" smtClean="0"/>
              <a:t>additional market </a:t>
            </a:r>
            <a:r>
              <a:rPr lang="en-US" sz="1600" dirty="0"/>
              <a:t>sellers modeled by the graph of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i="1" dirty="0" smtClean="0"/>
              <a:t>f</a:t>
            </a:r>
            <a:r>
              <a:rPr lang="en-US" sz="1600" dirty="0" smtClean="0"/>
              <a:t> and the </a:t>
            </a:r>
            <a:r>
              <a:rPr lang="en-US" sz="1600" dirty="0"/>
              <a:t>equation </a:t>
            </a:r>
            <a:r>
              <a:rPr lang="en-US" sz="1600" i="1" dirty="0" smtClean="0"/>
              <a:t>g</a:t>
            </a:r>
            <a:r>
              <a:rPr lang="en-US" sz="1600" dirty="0" smtClean="0"/>
              <a:t>(</a:t>
            </a:r>
            <a:r>
              <a:rPr lang="en-US" sz="1600" i="1" dirty="0" smtClean="0"/>
              <a:t>x</a:t>
            </a:r>
            <a:r>
              <a:rPr lang="en-US" sz="1600" dirty="0" smtClean="0"/>
              <a:t>) </a:t>
            </a:r>
            <a:r>
              <a:rPr lang="en-US" sz="1600" dirty="0"/>
              <a:t>= </a:t>
            </a:r>
            <a:r>
              <a:rPr lang="en-US" sz="1600" dirty="0" smtClean="0"/>
              <a:t>(</a:t>
            </a:r>
            <a:r>
              <a:rPr lang="en-US" sz="1600" i="1" dirty="0"/>
              <a:t>x</a:t>
            </a:r>
            <a:r>
              <a:rPr lang="en-US" sz="1600" dirty="0"/>
              <a:t> </a:t>
            </a:r>
            <a:r>
              <a:rPr lang="en-US" sz="1600" dirty="0" smtClean="0"/>
              <a:t>+ 1</a:t>
            </a:r>
            <a:r>
              <a:rPr lang="en-US" sz="1600" dirty="0"/>
              <a:t>)(5 – </a:t>
            </a:r>
            <a:r>
              <a:rPr lang="en-US" sz="1600" i="1" dirty="0" smtClean="0"/>
              <a:t>x</a:t>
            </a:r>
            <a:r>
              <a:rPr lang="en-US" sz="1600" dirty="0" smtClean="0"/>
              <a:t>)</a:t>
            </a:r>
            <a:r>
              <a:rPr lang="en-US" sz="1600" dirty="0"/>
              <a:t>. Compare </a:t>
            </a:r>
            <a:r>
              <a:rPr lang="en-US" sz="1600" dirty="0" smtClean="0"/>
              <a:t>and interpret </a:t>
            </a:r>
            <a:r>
              <a:rPr lang="en-US" sz="1600" dirty="0"/>
              <a:t>the </a:t>
            </a:r>
            <a:r>
              <a:rPr lang="en-US" sz="1600" i="1" dirty="0" smtClean="0"/>
              <a:t>y</a:t>
            </a:r>
            <a:r>
              <a:rPr lang="en-US" sz="1600" dirty="0" smtClean="0"/>
              <a:t>-</a:t>
            </a:r>
            <a:r>
              <a:rPr lang="en-US" sz="1600" dirty="0"/>
              <a:t>intercepts of these </a:t>
            </a:r>
            <a:r>
              <a:rPr lang="en-US" sz="1600" dirty="0" smtClean="0"/>
              <a:t>functions and </a:t>
            </a:r>
            <a:r>
              <a:rPr lang="en-US" sz="1600" dirty="0"/>
              <a:t>their end behavior.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3341DDE-51A7-BB4A-A5D0-B99BDB557C68}"/>
              </a:ext>
            </a:extLst>
          </p:cNvPr>
          <p:cNvSpPr/>
          <p:nvPr/>
        </p:nvSpPr>
        <p:spPr>
          <a:xfrm>
            <a:off x="452746" y="464612"/>
            <a:ext cx="1480557" cy="295175"/>
          </a:xfrm>
          <a:prstGeom prst="rect">
            <a:avLst/>
          </a:prstGeom>
          <a:solidFill>
            <a:srgbClr val="1A4F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18000" rtlCol="0" anchor="ctr">
            <a:spAutoFit/>
          </a:bodyPr>
          <a:lstStyle/>
          <a:p>
            <a:r>
              <a:rPr lang="en-IN" sz="1800" b="1" cap="all" dirty="0" smtClean="0">
                <a:solidFill>
                  <a:schemeClr val="bg1"/>
                </a:solidFill>
              </a:rPr>
              <a:t>Example 5</a:t>
            </a:r>
            <a:endParaRPr lang="en-US" sz="1800" cap="all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2D026447-33AB-3446-A23C-AFEA10330B4F}"/>
              </a:ext>
            </a:extLst>
          </p:cNvPr>
          <p:cNvCxnSpPr/>
          <p:nvPr/>
        </p:nvCxnSpPr>
        <p:spPr>
          <a:xfrm>
            <a:off x="425301" y="894900"/>
            <a:ext cx="8304028" cy="0"/>
          </a:xfrm>
          <a:prstGeom prst="line">
            <a:avLst/>
          </a:prstGeom>
          <a:ln w="25400">
            <a:solidFill>
              <a:srgbClr val="0078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537" y="2356793"/>
            <a:ext cx="1665872" cy="164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236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723275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b="1" dirty="0">
                <a:solidFill>
                  <a:srgbClr val="137F97"/>
                </a:solidFill>
              </a:rPr>
              <a:t>CONCEPT SUMMARY</a:t>
            </a:r>
          </a:p>
          <a:p>
            <a:r>
              <a:rPr lang="en-US" sz="1800" b="1" dirty="0">
                <a:solidFill>
                  <a:srgbClr val="58585A"/>
                </a:solidFill>
              </a:rPr>
              <a:t>Adding, Subtracting, and Multiplying Polynomials</a:t>
            </a:r>
            <a:endParaRPr lang="en-IN" sz="1800" b="1" dirty="0">
              <a:solidFill>
                <a:srgbClr val="58585A"/>
              </a:solidFill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="" xmlns:a16="http://schemas.microsoft.com/office/drawing/2014/main" id="{4AC2A2CE-CAD1-E342-B645-7A414BACA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28322"/>
              </p:ext>
            </p:extLst>
          </p:nvPr>
        </p:nvGraphicFramePr>
        <p:xfrm>
          <a:off x="464127" y="1142274"/>
          <a:ext cx="8212281" cy="3592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2281">
                  <a:extLst>
                    <a:ext uri="{9D8B030D-6E8A-4147-A177-3AD203B41FA5}">
                      <a16:colId xmlns="" xmlns:a16="http://schemas.microsoft.com/office/drawing/2014/main" val="3077242538"/>
                    </a:ext>
                  </a:extLst>
                </a:gridCol>
              </a:tblGrid>
              <a:tr h="1692366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x-none" sz="1600" b="1" i="0" u="none" strike="noStrike" cap="none" baseline="0" dirty="0" smtClean="0">
                          <a:solidFill>
                            <a:srgbClr val="137F97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ADD</a:t>
                      </a:r>
                      <a:endParaRPr lang="en-US" sz="1400" b="0" i="0" u="none" strike="noStrike" cap="none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1400" b="0" i="0" u="none" strike="noStrike" cap="non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 add polynomials, use the Associative and Commutative Properties to group like terms.</a:t>
                      </a:r>
                    </a:p>
                    <a:p>
                      <a:r>
                        <a:rPr lang="en-US" sz="1400" b="0" i="0" u="none" strike="noStrike" cap="non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Then combine like terms.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7F9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78381200"/>
                  </a:ext>
                </a:extLst>
              </a:tr>
              <a:tr h="189992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i="0" u="none" strike="noStrike" cap="none" baseline="0" dirty="0" smtClean="0">
                          <a:solidFill>
                            <a:srgbClr val="137F97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SUBTRACT</a:t>
                      </a:r>
                      <a:endParaRPr lang="en-US" sz="1600" b="1" dirty="0" smtClean="0">
                        <a:solidFill>
                          <a:srgbClr val="137F9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400" b="0" i="0" u="none" strike="noStrike" cap="none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 subtract polynomials, group and combine like terms.</a:t>
                      </a:r>
                      <a:endParaRPr lang="en-US" sz="1400" dirty="0" smtClean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7F9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7E9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954" y="1988476"/>
            <a:ext cx="2843401" cy="77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Users\beenu\Desktop\images\Screenshot_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954" y="3474725"/>
            <a:ext cx="4913967" cy="11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68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F600D-6F8E-AF4F-9F8A-7A6BE3BFBF7F}"/>
              </a:ext>
            </a:extLst>
          </p:cNvPr>
          <p:cNvSpPr txBox="1"/>
          <p:nvPr/>
        </p:nvSpPr>
        <p:spPr>
          <a:xfrm>
            <a:off x="355758" y="351588"/>
            <a:ext cx="8341433" cy="723275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b="1" dirty="0">
                <a:solidFill>
                  <a:srgbClr val="137F97"/>
                </a:solidFill>
              </a:rPr>
              <a:t>CONCEPT SUMMARY</a:t>
            </a:r>
          </a:p>
          <a:p>
            <a:r>
              <a:rPr lang="en-US" sz="1800" b="1" dirty="0">
                <a:solidFill>
                  <a:srgbClr val="58585A"/>
                </a:solidFill>
              </a:rPr>
              <a:t>Adding, Subtracting, and Multiplying Polynomials</a:t>
            </a:r>
            <a:endParaRPr lang="en-IN" sz="1800" b="1" dirty="0">
              <a:solidFill>
                <a:srgbClr val="58585A"/>
              </a:solidFill>
            </a:endParaRPr>
          </a:p>
        </p:txBody>
      </p:sp>
      <p:graphicFrame>
        <p:nvGraphicFramePr>
          <p:cNvPr id="9" name="Table 2">
            <a:extLst>
              <a:ext uri="{FF2B5EF4-FFF2-40B4-BE49-F238E27FC236}">
                <a16:creationId xmlns="" xmlns:a16="http://schemas.microsoft.com/office/drawing/2014/main" id="{4AC2A2CE-CAD1-E342-B645-7A414BACA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744404"/>
              </p:ext>
            </p:extLst>
          </p:nvPr>
        </p:nvGraphicFramePr>
        <p:xfrm>
          <a:off x="464127" y="1142274"/>
          <a:ext cx="8212281" cy="2332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2281">
                  <a:extLst>
                    <a:ext uri="{9D8B030D-6E8A-4147-A177-3AD203B41FA5}">
                      <a16:colId xmlns="" xmlns:a16="http://schemas.microsoft.com/office/drawing/2014/main" val="3077242538"/>
                    </a:ext>
                  </a:extLst>
                </a:gridCol>
              </a:tblGrid>
              <a:tr h="23324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baseline="0" dirty="0" smtClean="0">
                          <a:solidFill>
                            <a:srgbClr val="137F97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MULTIPLY</a:t>
                      </a:r>
                    </a:p>
                    <a:p>
                      <a:r>
                        <a:rPr lang="en-US" sz="1400" b="0" i="0" u="none" strike="noStrike" cap="none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 multiply polynomials, use the Distributive Property. Then, group and combine like terms.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7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7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7E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6605183"/>
                  </a:ext>
                </a:extLst>
              </a:tr>
            </a:tbl>
          </a:graphicData>
        </a:graphic>
      </p:graphicFrame>
      <p:pic>
        <p:nvPicPr>
          <p:cNvPr id="6" name="Picture 2" descr="C:\Users\beenu\Desktop\images\Screenshot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58" y="1839706"/>
            <a:ext cx="3275776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665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E033CF7-964E-904E-B8F6-4DC8B0D5C047}"/>
              </a:ext>
            </a:extLst>
          </p:cNvPr>
          <p:cNvSpPr txBox="1"/>
          <p:nvPr/>
        </p:nvSpPr>
        <p:spPr>
          <a:xfrm>
            <a:off x="353088" y="344265"/>
            <a:ext cx="8321209" cy="4539704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600"/>
              </a:spcAft>
              <a:tabLst>
                <a:tab pos="2041525" algn="l"/>
              </a:tabLst>
            </a:pPr>
            <a:r>
              <a:rPr lang="en-IN" sz="1800" b="1" dirty="0">
                <a:solidFill>
                  <a:srgbClr val="C61938"/>
                </a:solidFill>
              </a:rPr>
              <a:t>Do You </a:t>
            </a:r>
            <a:r>
              <a:rPr lang="en-IN" sz="1800" b="1" cap="all" dirty="0">
                <a:solidFill>
                  <a:srgbClr val="C61938"/>
                </a:solidFill>
              </a:rPr>
              <a:t>Understand</a:t>
            </a:r>
            <a:r>
              <a:rPr lang="en-IN" sz="1800" b="1" dirty="0">
                <a:solidFill>
                  <a:srgbClr val="C61938"/>
                </a:solidFill>
              </a:rPr>
              <a:t>?</a:t>
            </a:r>
          </a:p>
          <a:p>
            <a:pPr marL="360000" indent="-378000">
              <a:spcAft>
                <a:spcPts val="1200"/>
              </a:spcAft>
              <a:buFont typeface="+mj-lt"/>
              <a:buAutoNum type="arabicPeriod"/>
            </a:pPr>
            <a:r>
              <a:rPr lang="en-IN" sz="1600" b="1" cap="all" dirty="0" smtClean="0">
                <a:solidFill>
                  <a:schemeClr val="bg1"/>
                </a:solidFill>
                <a:highlight>
                  <a:srgbClr val="168446"/>
                </a:highlight>
              </a:rPr>
              <a:t>Essential Question </a:t>
            </a:r>
            <a:r>
              <a:rPr lang="en-US" sz="1600" dirty="0" smtClean="0"/>
              <a:t>  How </a:t>
            </a:r>
            <a:r>
              <a:rPr lang="en-US" sz="1600" dirty="0"/>
              <a:t>do </a:t>
            </a:r>
            <a:r>
              <a:rPr lang="en-US" sz="1600" dirty="0" smtClean="0"/>
              <a:t>you add</a:t>
            </a:r>
            <a:r>
              <a:rPr lang="en-US" sz="1600" dirty="0"/>
              <a:t>, subtract, and multiply polynomials?</a:t>
            </a:r>
          </a:p>
          <a:p>
            <a:pPr marL="360000" indent="-378000">
              <a:spcAft>
                <a:spcPts val="18000"/>
              </a:spcAft>
              <a:buFont typeface="+mj-lt"/>
              <a:buAutoNum type="arabicPeriod"/>
            </a:pPr>
            <a:r>
              <a:rPr lang="en-US" sz="1600" b="1" dirty="0" smtClean="0">
                <a:solidFill>
                  <a:srgbClr val="C02B43"/>
                </a:solidFill>
              </a:rPr>
              <a:t>Error Analysis</a:t>
            </a:r>
            <a:r>
              <a:rPr lang="en-US" sz="1600" dirty="0" smtClean="0">
                <a:solidFill>
                  <a:srgbClr val="C02B43"/>
                </a:solidFill>
              </a:rPr>
              <a:t> </a:t>
            </a:r>
            <a:r>
              <a:rPr lang="en-US" sz="1600" dirty="0" smtClean="0"/>
              <a:t>Chen subtracted two polynomials as shown. Explain Chen’s error.</a:t>
            </a:r>
          </a:p>
          <a:p>
            <a:pPr marL="360000" indent="-378000">
              <a:spcAft>
                <a:spcPts val="1200"/>
              </a:spcAft>
              <a:buFont typeface="+mj-lt"/>
              <a:buAutoNum type="arabicPeriod"/>
            </a:pPr>
            <a:r>
              <a:rPr lang="en-US" sz="1600" b="1" dirty="0">
                <a:solidFill>
                  <a:srgbClr val="C02B43"/>
                </a:solidFill>
              </a:rPr>
              <a:t>Communicate Precisely </a:t>
            </a:r>
            <a:r>
              <a:rPr lang="en-US" sz="1600" dirty="0"/>
              <a:t>Why do we </a:t>
            </a:r>
            <a:r>
              <a:rPr lang="en-US" sz="1600" dirty="0" smtClean="0"/>
              <a:t>often write </a:t>
            </a:r>
            <a:r>
              <a:rPr lang="en-US" sz="1600" dirty="0"/>
              <a:t>the results of polynomial </a:t>
            </a:r>
            <a:r>
              <a:rPr lang="en-US" sz="1600" dirty="0" smtClean="0"/>
              <a:t>calculations in </a:t>
            </a:r>
            <a:r>
              <a:rPr lang="en-US" sz="1600" dirty="0"/>
              <a:t>standard form?</a:t>
            </a:r>
          </a:p>
          <a:p>
            <a:pPr marL="360000" indent="-378000">
              <a:buFont typeface="+mj-lt"/>
              <a:buAutoNum type="arabicPeriod"/>
            </a:pPr>
            <a:r>
              <a:rPr lang="en-US" sz="1600" b="1" dirty="0">
                <a:solidFill>
                  <a:srgbClr val="C02B43"/>
                </a:solidFill>
              </a:rPr>
              <a:t>Construct Arguments </a:t>
            </a:r>
            <a:r>
              <a:rPr lang="en-US" sz="1600" dirty="0" smtClean="0"/>
              <a:t>Is </a:t>
            </a:r>
            <a:r>
              <a:rPr lang="en-US" sz="1600" dirty="0"/>
              <a:t>the set </a:t>
            </a:r>
            <a:r>
              <a:rPr lang="en-US" sz="1600" dirty="0" smtClean="0"/>
              <a:t>of whole </a:t>
            </a:r>
            <a:r>
              <a:rPr lang="en-US" sz="1600" dirty="0"/>
              <a:t>numbers closed under subtraction</a:t>
            </a:r>
            <a:r>
              <a:rPr lang="en-US" sz="1600" dirty="0" smtClean="0"/>
              <a:t>? </a:t>
            </a:r>
            <a:br>
              <a:rPr lang="en-US" sz="1600" dirty="0" smtClean="0"/>
            </a:br>
            <a:r>
              <a:rPr lang="en-US" sz="1600" dirty="0" smtClean="0"/>
              <a:t>Explain </a:t>
            </a:r>
            <a:r>
              <a:rPr lang="en-US" sz="1600" dirty="0"/>
              <a:t>why you think so, or provide </a:t>
            </a:r>
            <a:r>
              <a:rPr lang="en-US" sz="1600" dirty="0" smtClean="0"/>
              <a:t>a counterexample</a:t>
            </a:r>
            <a:r>
              <a:rPr lang="en-US" sz="1600" dirty="0"/>
              <a:t>.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5" name="Picture 2" descr="C:\Users\beenu\Desktop\images\Screenshot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42" y="1612241"/>
            <a:ext cx="4147740" cy="184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05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E033CF7-964E-904E-B8F6-4DC8B0D5C047}"/>
              </a:ext>
            </a:extLst>
          </p:cNvPr>
          <p:cNvSpPr txBox="1"/>
          <p:nvPr/>
        </p:nvSpPr>
        <p:spPr>
          <a:xfrm>
            <a:off x="355758" y="344265"/>
            <a:ext cx="8371682" cy="3662541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>
              <a:spcAft>
                <a:spcPts val="600"/>
              </a:spcAft>
              <a:tabLst>
                <a:tab pos="2041525" algn="l"/>
              </a:tabLst>
            </a:pPr>
            <a:r>
              <a:rPr lang="en-IN" sz="1800" b="1" dirty="0">
                <a:solidFill>
                  <a:srgbClr val="C61938"/>
                </a:solidFill>
              </a:rPr>
              <a:t>Do You </a:t>
            </a:r>
            <a:r>
              <a:rPr lang="en-IN" sz="1800" b="1" cap="all" dirty="0">
                <a:solidFill>
                  <a:srgbClr val="C61938"/>
                </a:solidFill>
              </a:rPr>
              <a:t>Know How</a:t>
            </a:r>
            <a:r>
              <a:rPr lang="en-IN" sz="1800" b="1" dirty="0" smtClean="0">
                <a:solidFill>
                  <a:srgbClr val="C61938"/>
                </a:solidFill>
              </a:rPr>
              <a:t>?</a:t>
            </a:r>
          </a:p>
          <a:p>
            <a:pPr>
              <a:spcAft>
                <a:spcPts val="1200"/>
              </a:spcAft>
            </a:pPr>
            <a:r>
              <a:rPr lang="en-US" sz="1600" b="1" dirty="0" smtClean="0"/>
              <a:t>Add </a:t>
            </a:r>
            <a:r>
              <a:rPr lang="en-US" sz="1600" b="1" dirty="0"/>
              <a:t>or subtract the polynomials.</a:t>
            </a:r>
            <a:r>
              <a:rPr lang="en-IN" sz="1600" b="1" dirty="0"/>
              <a:t>​</a:t>
            </a:r>
            <a:r>
              <a:rPr lang="en-IN" sz="1600" b="1" dirty="0" smtClean="0"/>
              <a:t> </a:t>
            </a:r>
            <a:endParaRPr lang="en-US" sz="1600" b="1" dirty="0" smtClean="0"/>
          </a:p>
          <a:p>
            <a:pPr marL="342000" indent="-342000">
              <a:spcAft>
                <a:spcPts val="1200"/>
              </a:spcAft>
              <a:buFont typeface="+mj-lt"/>
              <a:buAutoNum type="arabicPeriod" startAt="5"/>
            </a:pPr>
            <a:r>
              <a:rPr lang="en-IN" sz="1600" b="1" dirty="0"/>
              <a:t>​</a:t>
            </a:r>
            <a:r>
              <a:rPr lang="mr-IN" sz="1600" dirty="0" smtClean="0"/>
              <a:t>(−3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3</a:t>
            </a:r>
            <a:r>
              <a:rPr lang="mr-IN" sz="1600" dirty="0" smtClean="0"/>
              <a:t> +</a:t>
            </a:r>
            <a:r>
              <a:rPr lang="en-US" sz="1600" dirty="0" smtClean="0"/>
              <a:t> 2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− </a:t>
            </a:r>
            <a:r>
              <a:rPr lang="mr-IN" sz="1600" dirty="0"/>
              <a:t>4) + </a:t>
            </a:r>
            <a:r>
              <a:rPr lang="mr-IN" sz="1600" dirty="0" smtClean="0"/>
              <a:t>(</a:t>
            </a:r>
            <a:r>
              <a:rPr lang="mr-IN" sz="1600" i="1" dirty="0"/>
              <a:t>a</a:t>
            </a:r>
            <a:r>
              <a:rPr lang="mr-IN" sz="1600" baseline="30000" dirty="0"/>
              <a:t>3</a:t>
            </a:r>
            <a:r>
              <a:rPr lang="mr-IN" sz="1600" dirty="0" smtClean="0"/>
              <a:t> </a:t>
            </a:r>
            <a:r>
              <a:rPr lang="mr-IN" sz="1600" dirty="0"/>
              <a:t>− </a:t>
            </a:r>
            <a:r>
              <a:rPr lang="mr-IN" sz="1600" dirty="0" smtClean="0"/>
              <a:t>3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</a:t>
            </a:r>
            <a:r>
              <a:rPr lang="mr-IN" sz="1600" dirty="0"/>
              <a:t>− 5</a:t>
            </a:r>
            <a:r>
              <a:rPr lang="mr-IN" sz="1600" i="1" dirty="0"/>
              <a:t>a</a:t>
            </a:r>
            <a:r>
              <a:rPr lang="mr-IN" sz="1600" dirty="0"/>
              <a:t> + 7)</a:t>
            </a:r>
            <a:r>
              <a:rPr lang="en-IN" sz="1600" b="1" dirty="0"/>
              <a:t>​</a:t>
            </a:r>
            <a:endParaRPr lang="en-IN" sz="1600" b="1" dirty="0" smtClean="0"/>
          </a:p>
          <a:p>
            <a:pPr marL="342000" indent="-342000">
              <a:spcAft>
                <a:spcPts val="1800"/>
              </a:spcAft>
              <a:buFont typeface="+mj-lt"/>
              <a:buAutoNum type="arabicPeriod" startAt="5"/>
            </a:pPr>
            <a:r>
              <a:rPr lang="en-IN" sz="1600" b="1" dirty="0" smtClean="0"/>
              <a:t>​</a:t>
            </a:r>
            <a:r>
              <a:rPr lang="es-ES" sz="1600" smtClean="0"/>
              <a:t>(7</a:t>
            </a:r>
            <a:r>
              <a:rPr lang="es-ES" sz="1600" i="1" smtClean="0"/>
              <a:t>x</a:t>
            </a:r>
            <a:r>
              <a:rPr lang="es-ES" sz="1600" baseline="30000" smtClean="0"/>
              <a:t>2</a:t>
            </a:r>
            <a:r>
              <a:rPr lang="es-ES" sz="1600" i="1" smtClean="0"/>
              <a:t>y</a:t>
            </a:r>
            <a:r>
              <a:rPr lang="es-ES" sz="1600" baseline="30000" smtClean="0"/>
              <a:t>2</a:t>
            </a:r>
            <a:r>
              <a:rPr lang="es-ES" sz="1600" smtClean="0"/>
              <a:t> </a:t>
            </a:r>
            <a:r>
              <a:rPr lang="es-ES" sz="1600" dirty="0"/>
              <a:t>− </a:t>
            </a:r>
            <a:r>
              <a:rPr lang="es-ES" sz="1600" dirty="0" smtClean="0"/>
              <a:t>6</a:t>
            </a:r>
            <a:r>
              <a:rPr lang="es-ES" sz="1600" i="1" dirty="0" smtClean="0"/>
              <a:t>x</a:t>
            </a:r>
            <a:r>
              <a:rPr lang="es-ES" sz="1600" baseline="30000" dirty="0" smtClean="0"/>
              <a:t>3</a:t>
            </a:r>
            <a:r>
              <a:rPr lang="es-ES" sz="1600" dirty="0" smtClean="0"/>
              <a:t> </a:t>
            </a:r>
            <a:r>
              <a:rPr lang="es-ES" sz="1600" dirty="0"/>
              <a:t>+ </a:t>
            </a:r>
            <a:r>
              <a:rPr lang="es-ES" sz="1600" i="1" dirty="0" err="1"/>
              <a:t>xy</a:t>
            </a:r>
            <a:r>
              <a:rPr lang="es-ES" sz="1600" dirty="0"/>
              <a:t>) − ( </a:t>
            </a:r>
            <a:r>
              <a:rPr lang="es-ES" sz="1600" dirty="0" smtClean="0"/>
              <a:t>5</a:t>
            </a:r>
            <a:r>
              <a:rPr lang="es-ES" sz="1600" i="1" dirty="0" smtClean="0"/>
              <a:t>x</a:t>
            </a:r>
            <a:r>
              <a:rPr lang="es-ES" sz="1600" baseline="30000" dirty="0" smtClean="0"/>
              <a:t>2</a:t>
            </a:r>
            <a:r>
              <a:rPr lang="es-ES" sz="1600" i="1" dirty="0" smtClean="0"/>
              <a:t>y</a:t>
            </a:r>
            <a:r>
              <a:rPr lang="es-ES" sz="1600" baseline="30000" dirty="0" smtClean="0"/>
              <a:t>2</a:t>
            </a:r>
            <a:r>
              <a:rPr lang="es-ES" sz="1600" dirty="0" smtClean="0"/>
              <a:t> </a:t>
            </a:r>
            <a:r>
              <a:rPr lang="es-ES" sz="1600" dirty="0"/>
              <a:t>− </a:t>
            </a:r>
            <a:r>
              <a:rPr lang="es-ES" sz="1600" i="1" dirty="0" smtClean="0"/>
              <a:t>x</a:t>
            </a:r>
            <a:r>
              <a:rPr lang="es-ES" sz="1600" baseline="30000" dirty="0" smtClean="0"/>
              <a:t>3</a:t>
            </a:r>
            <a:r>
              <a:rPr lang="es-ES" sz="1600" dirty="0" smtClean="0"/>
              <a:t> </a:t>
            </a:r>
            <a:r>
              <a:rPr lang="es-ES" sz="1600" dirty="0"/>
              <a:t>+ </a:t>
            </a:r>
            <a:r>
              <a:rPr lang="es-ES" sz="1600" i="1" dirty="0" err="1"/>
              <a:t>xy</a:t>
            </a:r>
            <a:r>
              <a:rPr lang="es-ES" sz="1600" i="1" dirty="0"/>
              <a:t> </a:t>
            </a:r>
            <a:r>
              <a:rPr lang="es-ES" sz="1600" dirty="0"/>
              <a:t>+ </a:t>
            </a:r>
            <a:r>
              <a:rPr lang="es-ES" sz="1600" i="1" dirty="0"/>
              <a:t>x</a:t>
            </a:r>
            <a:r>
              <a:rPr lang="es-ES" sz="1600" dirty="0"/>
              <a:t>)</a:t>
            </a:r>
            <a:endParaRPr lang="en-IN" sz="1600" b="1" dirty="0" smtClean="0"/>
          </a:p>
          <a:p>
            <a:pPr>
              <a:spcAft>
                <a:spcPts val="1200"/>
              </a:spcAft>
            </a:pPr>
            <a:r>
              <a:rPr lang="en-US" sz="1600" b="1" dirty="0"/>
              <a:t>Multiply the polynomials</a:t>
            </a:r>
            <a:r>
              <a:rPr lang="en-US" sz="1600" b="1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 startAt="7"/>
            </a:pPr>
            <a:r>
              <a:rPr lang="en-IN" sz="1600" b="1" dirty="0"/>
              <a:t>​</a:t>
            </a:r>
            <a:r>
              <a:rPr lang="mr-IN" sz="1600" dirty="0" smtClean="0"/>
              <a:t>(</a:t>
            </a:r>
            <a:r>
              <a:rPr lang="mr-IN" sz="1600" dirty="0"/>
              <a:t>7</a:t>
            </a:r>
            <a:r>
              <a:rPr lang="mr-IN" sz="1600" i="1" dirty="0"/>
              <a:t>a</a:t>
            </a:r>
            <a:r>
              <a:rPr lang="mr-IN" sz="1600" dirty="0"/>
              <a:t> + 2)</a:t>
            </a:r>
            <a:r>
              <a:rPr lang="mr-IN" sz="1600" dirty="0" smtClean="0"/>
              <a:t>(2</a:t>
            </a:r>
            <a:r>
              <a:rPr lang="mr-IN" sz="1600" i="1" dirty="0" smtClean="0"/>
              <a:t>a</a:t>
            </a:r>
            <a:r>
              <a:rPr lang="mr-IN" sz="1600" baseline="30000" dirty="0" smtClean="0"/>
              <a:t>2</a:t>
            </a:r>
            <a:r>
              <a:rPr lang="mr-IN" sz="1600" dirty="0" smtClean="0"/>
              <a:t> </a:t>
            </a:r>
            <a:r>
              <a:rPr lang="mr-IN" sz="1600" dirty="0"/>
              <a:t>− </a:t>
            </a:r>
            <a:r>
              <a:rPr lang="mr-IN" sz="1600" dirty="0" smtClean="0"/>
              <a:t>5</a:t>
            </a:r>
            <a:r>
              <a:rPr lang="mr-IN" sz="1600" i="1" dirty="0"/>
              <a:t>a</a:t>
            </a:r>
            <a:r>
              <a:rPr lang="mr-IN" sz="1600" dirty="0" smtClean="0"/>
              <a:t> </a:t>
            </a:r>
            <a:r>
              <a:rPr lang="mr-IN" sz="1600" dirty="0"/>
              <a:t>+ 3)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 startAt="7"/>
            </a:pPr>
            <a:r>
              <a:rPr lang="en-IN" sz="1600" b="1" dirty="0"/>
              <a:t>​</a:t>
            </a:r>
            <a:r>
              <a:rPr lang="mr-IN" sz="1600" dirty="0" smtClean="0"/>
              <a:t>(</a:t>
            </a:r>
            <a:r>
              <a:rPr lang="mr-IN" sz="1600" i="1" dirty="0"/>
              <a:t>xy</a:t>
            </a:r>
            <a:r>
              <a:rPr lang="mr-IN" sz="1600" dirty="0"/>
              <a:t> − 1)</a:t>
            </a:r>
            <a:r>
              <a:rPr lang="mr-IN" sz="1600" dirty="0" smtClean="0"/>
              <a:t>(</a:t>
            </a:r>
            <a:r>
              <a:rPr lang="mr-IN" sz="1600" i="1" dirty="0"/>
              <a:t>xy</a:t>
            </a:r>
            <a:r>
              <a:rPr lang="mr-IN" sz="1600" dirty="0" smtClean="0"/>
              <a:t> </a:t>
            </a:r>
            <a:r>
              <a:rPr lang="mr-IN" sz="1600" dirty="0"/>
              <a:t>+ 6)</a:t>
            </a:r>
            <a:r>
              <a:rPr lang="mr-IN" sz="1600" dirty="0" smtClean="0"/>
              <a:t>(</a:t>
            </a:r>
            <a:r>
              <a:rPr lang="mr-IN" sz="1600" i="1" dirty="0"/>
              <a:t>xy</a:t>
            </a:r>
            <a:r>
              <a:rPr lang="mr-IN" sz="1600" dirty="0" smtClean="0"/>
              <a:t> </a:t>
            </a:r>
            <a:r>
              <a:rPr lang="mr-IN" sz="1600" dirty="0"/>
              <a:t>− 8)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 startAt="7"/>
            </a:pPr>
            <a:r>
              <a:rPr lang="en-IN" sz="1600" b="1" dirty="0"/>
              <a:t>​</a:t>
            </a:r>
            <a:r>
              <a:rPr lang="en-US" sz="1600" dirty="0" smtClean="0"/>
              <a:t>The </a:t>
            </a:r>
            <a:r>
              <a:rPr lang="en-US" sz="1600" dirty="0"/>
              <a:t>length of a rectangular speaker is </a:t>
            </a:r>
            <a:r>
              <a:rPr lang="en-US" sz="1600" dirty="0" smtClean="0"/>
              <a:t>three times </a:t>
            </a:r>
            <a:r>
              <a:rPr lang="en-US" sz="1600" dirty="0"/>
              <a:t>its width, and the height is four </a:t>
            </a:r>
            <a:r>
              <a:rPr lang="en-US" sz="1600" dirty="0" smtClean="0"/>
              <a:t>more than </a:t>
            </a:r>
            <a:r>
              <a:rPr lang="en-US" sz="1600" dirty="0"/>
              <a:t>the width. Write an expression for </a:t>
            </a:r>
            <a:r>
              <a:rPr lang="en-US" sz="1600" dirty="0" smtClean="0"/>
              <a:t>the volume </a:t>
            </a:r>
            <a:r>
              <a:rPr lang="en-US" sz="1600" i="1" dirty="0"/>
              <a:t>V</a:t>
            </a:r>
            <a:r>
              <a:rPr lang="en-US" sz="1600" dirty="0"/>
              <a:t> of the rectangular prism in </a:t>
            </a:r>
            <a:r>
              <a:rPr lang="en-US" sz="1600" dirty="0" smtClean="0"/>
              <a:t>terms of </a:t>
            </a:r>
            <a:r>
              <a:rPr lang="en-US" sz="1600" dirty="0"/>
              <a:t>its width </a:t>
            </a:r>
            <a:r>
              <a:rPr lang="en-US" sz="1600" i="1" dirty="0"/>
              <a:t>w</a:t>
            </a:r>
            <a:r>
              <a:rPr lang="en-US" sz="1600" dirty="0"/>
              <a:t>.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6" name="Picture 2" descr="C:\Users\beenu\Desktop\images\Screenshot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582" y="4018759"/>
            <a:ext cx="4158646" cy="186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96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6E777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640</Words>
  <Application>Microsoft Office PowerPoint</Application>
  <PresentationFormat>On-screen Show (4:3)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Avenir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Hamilton, Thomas C</dc:creator>
  <cp:lastModifiedBy>Admin</cp:lastModifiedBy>
  <cp:revision>602</cp:revision>
  <dcterms:created xsi:type="dcterms:W3CDTF">2021-10-25T14:33:33Z</dcterms:created>
  <dcterms:modified xsi:type="dcterms:W3CDTF">2022-10-27T04:07:35Z</dcterms:modified>
</cp:coreProperties>
</file>